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30275213" cy="42803763"/>
  <p:notesSz cx="6858000" cy="9144000"/>
  <p:defaultTextStyle>
    <a:defPPr>
      <a:defRPr lang="en-US"/>
    </a:defPPr>
    <a:lvl1pPr marL="0" algn="l" defTabSz="457177" rtl="0" eaLnBrk="1" latinLnBrk="0" hangingPunct="1">
      <a:defRPr sz="1800" kern="1200">
        <a:solidFill>
          <a:schemeClr val="tx1"/>
        </a:solidFill>
        <a:latin typeface="+mn-lt"/>
        <a:ea typeface="+mn-ea"/>
        <a:cs typeface="+mn-cs"/>
      </a:defRPr>
    </a:lvl1pPr>
    <a:lvl2pPr marL="457177" algn="l" defTabSz="457177" rtl="0" eaLnBrk="1" latinLnBrk="0" hangingPunct="1">
      <a:defRPr sz="1800" kern="1200">
        <a:solidFill>
          <a:schemeClr val="tx1"/>
        </a:solidFill>
        <a:latin typeface="+mn-lt"/>
        <a:ea typeface="+mn-ea"/>
        <a:cs typeface="+mn-cs"/>
      </a:defRPr>
    </a:lvl2pPr>
    <a:lvl3pPr marL="914354" algn="l" defTabSz="457177" rtl="0" eaLnBrk="1" latinLnBrk="0" hangingPunct="1">
      <a:defRPr sz="1800" kern="1200">
        <a:solidFill>
          <a:schemeClr val="tx1"/>
        </a:solidFill>
        <a:latin typeface="+mn-lt"/>
        <a:ea typeface="+mn-ea"/>
        <a:cs typeface="+mn-cs"/>
      </a:defRPr>
    </a:lvl3pPr>
    <a:lvl4pPr marL="1371531" algn="l" defTabSz="457177" rtl="0" eaLnBrk="1" latinLnBrk="0" hangingPunct="1">
      <a:defRPr sz="1800" kern="1200">
        <a:solidFill>
          <a:schemeClr val="tx1"/>
        </a:solidFill>
        <a:latin typeface="+mn-lt"/>
        <a:ea typeface="+mn-ea"/>
        <a:cs typeface="+mn-cs"/>
      </a:defRPr>
    </a:lvl4pPr>
    <a:lvl5pPr marL="1828709" algn="l" defTabSz="457177" rtl="0" eaLnBrk="1" latinLnBrk="0" hangingPunct="1">
      <a:defRPr sz="1800" kern="1200">
        <a:solidFill>
          <a:schemeClr val="tx1"/>
        </a:solidFill>
        <a:latin typeface="+mn-lt"/>
        <a:ea typeface="+mn-ea"/>
        <a:cs typeface="+mn-cs"/>
      </a:defRPr>
    </a:lvl5pPr>
    <a:lvl6pPr marL="2285886" algn="l" defTabSz="457177" rtl="0" eaLnBrk="1" latinLnBrk="0" hangingPunct="1">
      <a:defRPr sz="1800" kern="1200">
        <a:solidFill>
          <a:schemeClr val="tx1"/>
        </a:solidFill>
        <a:latin typeface="+mn-lt"/>
        <a:ea typeface="+mn-ea"/>
        <a:cs typeface="+mn-cs"/>
      </a:defRPr>
    </a:lvl6pPr>
    <a:lvl7pPr marL="2743063" algn="l" defTabSz="457177" rtl="0" eaLnBrk="1" latinLnBrk="0" hangingPunct="1">
      <a:defRPr sz="1800" kern="1200">
        <a:solidFill>
          <a:schemeClr val="tx1"/>
        </a:solidFill>
        <a:latin typeface="+mn-lt"/>
        <a:ea typeface="+mn-ea"/>
        <a:cs typeface="+mn-cs"/>
      </a:defRPr>
    </a:lvl7pPr>
    <a:lvl8pPr marL="3200240" algn="l" defTabSz="457177" rtl="0" eaLnBrk="1" latinLnBrk="0" hangingPunct="1">
      <a:defRPr sz="1800" kern="1200">
        <a:solidFill>
          <a:schemeClr val="tx1"/>
        </a:solidFill>
        <a:latin typeface="+mn-lt"/>
        <a:ea typeface="+mn-ea"/>
        <a:cs typeface="+mn-cs"/>
      </a:defRPr>
    </a:lvl8pPr>
    <a:lvl9pPr marL="3657417" algn="l" defTabSz="4571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94855"/>
    <a:srgbClr val="79425F"/>
    <a:srgbClr val="9DADBC"/>
    <a:srgbClr val="065980"/>
    <a:srgbClr val="007E9C"/>
    <a:srgbClr val="00B6A4"/>
    <a:srgbClr val="E79C25"/>
    <a:srgbClr val="0064B0"/>
    <a:srgbClr val="A52D40"/>
    <a:srgbClr val="62001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varScale="1">
        <p:scale>
          <a:sx n="14" d="100"/>
          <a:sy n="14" d="100"/>
        </p:scale>
        <p:origin x="2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5157"/>
            <a:ext cx="25733931" cy="14902051"/>
          </a:xfrm>
        </p:spPr>
        <p:txBody>
          <a:bodyPr anchor="b"/>
          <a:lstStyle>
            <a:lvl1pPr algn="ctr">
              <a:defRPr sz="19865"/>
            </a:lvl1pPr>
          </a:lstStyle>
          <a:p>
            <a:r>
              <a:rPr lang="zh-CN" altLang="en-US"/>
              <a:t>单击此处编辑母版标题样式</a:t>
            </a:r>
            <a:endParaRPr lang="en-US" dirty="0"/>
          </a:p>
        </p:txBody>
      </p:sp>
      <p:sp>
        <p:nvSpPr>
          <p:cNvPr id="3" name="Subtitle 2"/>
          <p:cNvSpPr>
            <a:spLocks noGrp="1"/>
          </p:cNvSpPr>
          <p:nvPr>
            <p:ph type="subTitle" idx="1"/>
          </p:nvPr>
        </p:nvSpPr>
        <p:spPr>
          <a:xfrm>
            <a:off x="3784402" y="22481889"/>
            <a:ext cx="22706410" cy="10334331"/>
          </a:xfrm>
        </p:spPr>
        <p:txBody>
          <a:bodyPr/>
          <a:lstStyle>
            <a:lvl1pPr marL="0" indent="0" algn="ctr">
              <a:buNone/>
              <a:defRPr sz="7946"/>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101FCEC3-0D0F-4524-8F35-8D86108390A5}" type="datetimeFigureOut">
              <a:rPr lang="zh-CN" altLang="en-US" smtClean="0"/>
              <a:t>2025/12/15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9C28533-A9AA-4D21-918A-25D301CDE0D8}" type="slidenum">
              <a:rPr lang="zh-CN" altLang="en-US" smtClean="0"/>
              <a:t>‹#›</a:t>
            </a:fld>
            <a:endParaRPr lang="zh-CN" altLang="en-US"/>
          </a:p>
        </p:txBody>
      </p:sp>
    </p:spTree>
    <p:extLst>
      <p:ext uri="{BB962C8B-B14F-4D97-AF65-F5344CB8AC3E}">
        <p14:creationId xmlns:p14="http://schemas.microsoft.com/office/powerpoint/2010/main" val="2498078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01FCEC3-0D0F-4524-8F35-8D86108390A5}" type="datetimeFigureOut">
              <a:rPr lang="zh-CN" altLang="en-US" smtClean="0"/>
              <a:t>2025/12/15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9C28533-A9AA-4D21-918A-25D301CDE0D8}" type="slidenum">
              <a:rPr lang="zh-CN" altLang="en-US" smtClean="0"/>
              <a:t>‹#›</a:t>
            </a:fld>
            <a:endParaRPr lang="zh-CN" altLang="en-US"/>
          </a:p>
        </p:txBody>
      </p:sp>
    </p:spTree>
    <p:extLst>
      <p:ext uri="{BB962C8B-B14F-4D97-AF65-F5344CB8AC3E}">
        <p14:creationId xmlns:p14="http://schemas.microsoft.com/office/powerpoint/2010/main" val="599984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71229"/>
            <a:ext cx="26112371" cy="17805174"/>
          </a:xfrm>
        </p:spPr>
        <p:txBody>
          <a:bodyPr anchor="b"/>
          <a:lstStyle>
            <a:lvl1pPr>
              <a:defRPr sz="19865"/>
            </a:lvl1pPr>
          </a:lstStyle>
          <a:p>
            <a:r>
              <a:rPr lang="zh-CN" altLang="en-US"/>
              <a:t>单击此处编辑母版标题样式</a:t>
            </a:r>
            <a:endParaRPr lang="en-US" dirty="0"/>
          </a:p>
        </p:txBody>
      </p:sp>
      <p:sp>
        <p:nvSpPr>
          <p:cNvPr id="3" name="Text Placeholder 2"/>
          <p:cNvSpPr>
            <a:spLocks noGrp="1"/>
          </p:cNvSpPr>
          <p:nvPr>
            <p:ph type="body" idx="1"/>
          </p:nvPr>
        </p:nvSpPr>
        <p:spPr>
          <a:xfrm>
            <a:off x="2065654" y="28644846"/>
            <a:ext cx="26112371" cy="9363321"/>
          </a:xfrm>
        </p:spPr>
        <p:txBody>
          <a:bodyPr/>
          <a:lstStyle>
            <a:lvl1pPr marL="0" indent="0">
              <a:buNone/>
              <a:defRPr sz="7946">
                <a:solidFill>
                  <a:schemeClr val="tx1"/>
                </a:solidFill>
              </a:defRPr>
            </a:lvl1pPr>
            <a:lvl2pPr marL="1513743" indent="0">
              <a:buNone/>
              <a:defRPr sz="6622">
                <a:solidFill>
                  <a:schemeClr val="tx1">
                    <a:tint val="75000"/>
                  </a:schemeClr>
                </a:solidFill>
              </a:defRPr>
            </a:lvl2pPr>
            <a:lvl3pPr marL="3027487" indent="0">
              <a:buNone/>
              <a:defRPr sz="5960">
                <a:solidFill>
                  <a:schemeClr val="tx1">
                    <a:tint val="75000"/>
                  </a:schemeClr>
                </a:solidFill>
              </a:defRPr>
            </a:lvl3pPr>
            <a:lvl4pPr marL="4541230" indent="0">
              <a:buNone/>
              <a:defRPr sz="5297">
                <a:solidFill>
                  <a:schemeClr val="tx1">
                    <a:tint val="75000"/>
                  </a:schemeClr>
                </a:solidFill>
              </a:defRPr>
            </a:lvl4pPr>
            <a:lvl5pPr marL="6054974" indent="0">
              <a:buNone/>
              <a:defRPr sz="5297">
                <a:solidFill>
                  <a:schemeClr val="tx1">
                    <a:tint val="75000"/>
                  </a:schemeClr>
                </a:solidFill>
              </a:defRPr>
            </a:lvl5pPr>
            <a:lvl6pPr marL="7568717" indent="0">
              <a:buNone/>
              <a:defRPr sz="5297">
                <a:solidFill>
                  <a:schemeClr val="tx1">
                    <a:tint val="75000"/>
                  </a:schemeClr>
                </a:solidFill>
              </a:defRPr>
            </a:lvl6pPr>
            <a:lvl7pPr marL="9082461" indent="0">
              <a:buNone/>
              <a:defRPr sz="5297">
                <a:solidFill>
                  <a:schemeClr val="tx1">
                    <a:tint val="75000"/>
                  </a:schemeClr>
                </a:solidFill>
              </a:defRPr>
            </a:lvl7pPr>
            <a:lvl8pPr marL="10596204" indent="0">
              <a:buNone/>
              <a:defRPr sz="5297">
                <a:solidFill>
                  <a:schemeClr val="tx1">
                    <a:tint val="75000"/>
                  </a:schemeClr>
                </a:solidFill>
              </a:defRPr>
            </a:lvl8pPr>
            <a:lvl9pPr marL="12109948" indent="0">
              <a:buNone/>
              <a:defRPr sz="5297">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01FCEC3-0D0F-4524-8F35-8D86108390A5}" type="datetimeFigureOut">
              <a:rPr lang="zh-CN" altLang="en-US" smtClean="0"/>
              <a:t>2025/12/15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9C28533-A9AA-4D21-918A-25D301CDE0D8}" type="slidenum">
              <a:rPr lang="zh-CN" altLang="en-US" smtClean="0"/>
              <a:t>‹#›</a:t>
            </a:fld>
            <a:endParaRPr lang="zh-CN" altLang="en-US"/>
          </a:p>
        </p:txBody>
      </p:sp>
    </p:spTree>
    <p:extLst>
      <p:ext uri="{BB962C8B-B14F-4D97-AF65-F5344CB8AC3E}">
        <p14:creationId xmlns:p14="http://schemas.microsoft.com/office/powerpoint/2010/main" val="2752933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2081421" y="11394520"/>
            <a:ext cx="12866966" cy="2715859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15326826" y="11394520"/>
            <a:ext cx="12866966" cy="2715859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101FCEC3-0D0F-4524-8F35-8D86108390A5}" type="datetimeFigureOut">
              <a:rPr lang="zh-CN" altLang="en-US" smtClean="0"/>
              <a:t>2025/12/15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9C28533-A9AA-4D21-918A-25D301CDE0D8}" type="slidenum">
              <a:rPr lang="zh-CN" altLang="en-US" smtClean="0"/>
              <a:t>‹#›</a:t>
            </a:fld>
            <a:endParaRPr lang="zh-CN" altLang="en-US"/>
          </a:p>
        </p:txBody>
      </p:sp>
    </p:spTree>
    <p:extLst>
      <p:ext uri="{BB962C8B-B14F-4D97-AF65-F5344CB8AC3E}">
        <p14:creationId xmlns:p14="http://schemas.microsoft.com/office/powerpoint/2010/main" val="829477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2085365" y="2278915"/>
            <a:ext cx="26112371" cy="8273415"/>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2085368" y="10492871"/>
            <a:ext cx="12807833"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zh-CN" altLang="en-US"/>
              <a:t>单击此处编辑母版文本样式</a:t>
            </a:r>
          </a:p>
        </p:txBody>
      </p:sp>
      <p:sp>
        <p:nvSpPr>
          <p:cNvPr id="4" name="Content Placeholder 3"/>
          <p:cNvSpPr>
            <a:spLocks noGrp="1"/>
          </p:cNvSpPr>
          <p:nvPr>
            <p:ph sz="half" idx="2"/>
          </p:nvPr>
        </p:nvSpPr>
        <p:spPr>
          <a:xfrm>
            <a:off x="2085368" y="15635265"/>
            <a:ext cx="12807833" cy="2299711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15326829" y="10492871"/>
            <a:ext cx="12870909"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zh-CN" altLang="en-US"/>
              <a:t>单击此处编辑母版文本样式</a:t>
            </a:r>
          </a:p>
        </p:txBody>
      </p:sp>
      <p:sp>
        <p:nvSpPr>
          <p:cNvPr id="6" name="Content Placeholder 5"/>
          <p:cNvSpPr>
            <a:spLocks noGrp="1"/>
          </p:cNvSpPr>
          <p:nvPr>
            <p:ph sz="quarter" idx="4"/>
          </p:nvPr>
        </p:nvSpPr>
        <p:spPr>
          <a:xfrm>
            <a:off x="15326829" y="15635265"/>
            <a:ext cx="12870909" cy="2299711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101FCEC3-0D0F-4524-8F35-8D86108390A5}" type="datetimeFigureOut">
              <a:rPr lang="zh-CN" altLang="en-US" smtClean="0"/>
              <a:t>2025/12/15</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9C28533-A9AA-4D21-918A-25D301CDE0D8}" type="slidenum">
              <a:rPr lang="zh-CN" altLang="en-US" smtClean="0"/>
              <a:t>‹#›</a:t>
            </a:fld>
            <a:endParaRPr lang="zh-CN" altLang="en-US"/>
          </a:p>
        </p:txBody>
      </p:sp>
    </p:spTree>
    <p:extLst>
      <p:ext uri="{BB962C8B-B14F-4D97-AF65-F5344CB8AC3E}">
        <p14:creationId xmlns:p14="http://schemas.microsoft.com/office/powerpoint/2010/main" val="3248698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01FCEC3-0D0F-4524-8F35-8D86108390A5}" type="datetimeFigureOut">
              <a:rPr lang="zh-CN" altLang="en-US" smtClean="0"/>
              <a:t>2025/12/15</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9C28533-A9AA-4D21-918A-25D301CDE0D8}" type="slidenum">
              <a:rPr lang="zh-CN" altLang="en-US" smtClean="0"/>
              <a:t>‹#›</a:t>
            </a:fld>
            <a:endParaRPr lang="zh-CN" altLang="en-US"/>
          </a:p>
        </p:txBody>
      </p:sp>
    </p:spTree>
    <p:extLst>
      <p:ext uri="{BB962C8B-B14F-4D97-AF65-F5344CB8AC3E}">
        <p14:creationId xmlns:p14="http://schemas.microsoft.com/office/powerpoint/2010/main" val="1349061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1FCEC3-0D0F-4524-8F35-8D86108390A5}" type="datetimeFigureOut">
              <a:rPr lang="zh-CN" altLang="en-US" smtClean="0"/>
              <a:t>2025/12/15</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9C28533-A9AA-4D21-918A-25D301CDE0D8}" type="slidenum">
              <a:rPr lang="zh-CN" altLang="en-US" smtClean="0"/>
              <a:t>‹#›</a:t>
            </a:fld>
            <a:endParaRPr lang="zh-CN" altLang="en-US"/>
          </a:p>
        </p:txBody>
      </p:sp>
    </p:spTree>
    <p:extLst>
      <p:ext uri="{BB962C8B-B14F-4D97-AF65-F5344CB8AC3E}">
        <p14:creationId xmlns:p14="http://schemas.microsoft.com/office/powerpoint/2010/main" val="2994308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2085365" y="2853584"/>
            <a:ext cx="9764544" cy="9987546"/>
          </a:xfrm>
        </p:spPr>
        <p:txBody>
          <a:bodyPr anchor="b"/>
          <a:lstStyle>
            <a:lvl1pPr>
              <a:defRPr sz="10595"/>
            </a:lvl1pPr>
          </a:lstStyle>
          <a:p>
            <a:r>
              <a:rPr lang="zh-CN" altLang="en-US"/>
              <a:t>单击此处编辑母版标题样式</a:t>
            </a:r>
            <a:endParaRPr lang="en-US" dirty="0"/>
          </a:p>
        </p:txBody>
      </p:sp>
      <p:sp>
        <p:nvSpPr>
          <p:cNvPr id="3" name="Content Placeholder 2"/>
          <p:cNvSpPr>
            <a:spLocks noGrp="1"/>
          </p:cNvSpPr>
          <p:nvPr>
            <p:ph idx="1"/>
          </p:nvPr>
        </p:nvSpPr>
        <p:spPr>
          <a:xfrm>
            <a:off x="12870910" y="6162961"/>
            <a:ext cx="15326827" cy="30418414"/>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2085365" y="12841131"/>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01FCEC3-0D0F-4524-8F35-8D86108390A5}" type="datetimeFigureOut">
              <a:rPr lang="zh-CN" altLang="en-US" smtClean="0"/>
              <a:t>2025/12/15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9C28533-A9AA-4D21-918A-25D301CDE0D8}" type="slidenum">
              <a:rPr lang="zh-CN" altLang="en-US" smtClean="0"/>
              <a:t>‹#›</a:t>
            </a:fld>
            <a:endParaRPr lang="zh-CN" altLang="en-US"/>
          </a:p>
        </p:txBody>
      </p:sp>
    </p:spTree>
    <p:extLst>
      <p:ext uri="{BB962C8B-B14F-4D97-AF65-F5344CB8AC3E}">
        <p14:creationId xmlns:p14="http://schemas.microsoft.com/office/powerpoint/2010/main" val="3642004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2085365" y="2853584"/>
            <a:ext cx="9764544" cy="9987546"/>
          </a:xfrm>
        </p:spPr>
        <p:txBody>
          <a:bodyPr anchor="b"/>
          <a:lstStyle>
            <a:lvl1pPr>
              <a:defRPr sz="10595"/>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2870910" y="6162961"/>
            <a:ext cx="15326827" cy="30418414"/>
          </a:xfrm>
        </p:spPr>
        <p:txBody>
          <a:bodyPr anchor="t"/>
          <a:lstStyle>
            <a:lvl1pPr marL="0" indent="0">
              <a:buNone/>
              <a:defRPr sz="10595"/>
            </a:lvl1pPr>
            <a:lvl2pPr marL="1513743" indent="0">
              <a:buNone/>
              <a:defRPr sz="9271"/>
            </a:lvl2pPr>
            <a:lvl3pPr marL="3027487" indent="0">
              <a:buNone/>
              <a:defRPr sz="7946"/>
            </a:lvl3pPr>
            <a:lvl4pPr marL="4541230" indent="0">
              <a:buNone/>
              <a:defRPr sz="6622"/>
            </a:lvl4pPr>
            <a:lvl5pPr marL="6054974" indent="0">
              <a:buNone/>
              <a:defRPr sz="6622"/>
            </a:lvl5pPr>
            <a:lvl6pPr marL="7568717" indent="0">
              <a:buNone/>
              <a:defRPr sz="6622"/>
            </a:lvl6pPr>
            <a:lvl7pPr marL="9082461" indent="0">
              <a:buNone/>
              <a:defRPr sz="6622"/>
            </a:lvl7pPr>
            <a:lvl8pPr marL="10596204" indent="0">
              <a:buNone/>
              <a:defRPr sz="6622"/>
            </a:lvl8pPr>
            <a:lvl9pPr marL="12109948" indent="0">
              <a:buNone/>
              <a:defRPr sz="6622"/>
            </a:lvl9pPr>
          </a:lstStyle>
          <a:p>
            <a:r>
              <a:rPr lang="zh-CN" altLang="en-US"/>
              <a:t>单击图标添加图片</a:t>
            </a:r>
            <a:endParaRPr lang="en-US" dirty="0"/>
          </a:p>
        </p:txBody>
      </p:sp>
      <p:sp>
        <p:nvSpPr>
          <p:cNvPr id="4" name="Text Placeholder 3"/>
          <p:cNvSpPr>
            <a:spLocks noGrp="1"/>
          </p:cNvSpPr>
          <p:nvPr>
            <p:ph type="body" sz="half" idx="2"/>
          </p:nvPr>
        </p:nvSpPr>
        <p:spPr>
          <a:xfrm>
            <a:off x="2085365" y="12841131"/>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01FCEC3-0D0F-4524-8F35-8D86108390A5}" type="datetimeFigureOut">
              <a:rPr lang="zh-CN" altLang="en-US" smtClean="0"/>
              <a:t>2025/12/15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9C28533-A9AA-4D21-918A-25D301CDE0D8}" type="slidenum">
              <a:rPr lang="zh-CN" altLang="en-US" smtClean="0"/>
              <a:t>‹#›</a:t>
            </a:fld>
            <a:endParaRPr lang="zh-CN" altLang="en-US"/>
          </a:p>
        </p:txBody>
      </p:sp>
    </p:spTree>
    <p:extLst>
      <p:ext uri="{BB962C8B-B14F-4D97-AF65-F5344CB8AC3E}">
        <p14:creationId xmlns:p14="http://schemas.microsoft.com/office/powerpoint/2010/main" val="421113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01FCEC3-0D0F-4524-8F35-8D86108390A5}" type="datetimeFigureOut">
              <a:rPr lang="zh-CN" altLang="en-US" smtClean="0"/>
              <a:t>2025/12/15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9C28533-A9AA-4D21-918A-25D301CDE0D8}" type="slidenum">
              <a:rPr lang="zh-CN" altLang="en-US" smtClean="0"/>
              <a:t>‹#›</a:t>
            </a:fld>
            <a:endParaRPr lang="zh-CN" altLang="en-US"/>
          </a:p>
        </p:txBody>
      </p:sp>
    </p:spTree>
    <p:extLst>
      <p:ext uri="{BB962C8B-B14F-4D97-AF65-F5344CB8AC3E}">
        <p14:creationId xmlns:p14="http://schemas.microsoft.com/office/powerpoint/2010/main" val="3101742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0" y="2278904"/>
            <a:ext cx="6528094" cy="36274211"/>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2081423" y="2278904"/>
            <a:ext cx="19205837" cy="36274211"/>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01FCEC3-0D0F-4524-8F35-8D86108390A5}" type="datetimeFigureOut">
              <a:rPr lang="zh-CN" altLang="en-US" smtClean="0"/>
              <a:t>2025/12/15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9C28533-A9AA-4D21-918A-25D301CDE0D8}" type="slidenum">
              <a:rPr lang="zh-CN" altLang="en-US" smtClean="0"/>
              <a:t>‹#›</a:t>
            </a:fld>
            <a:endParaRPr lang="zh-CN" altLang="en-US"/>
          </a:p>
        </p:txBody>
      </p:sp>
    </p:spTree>
    <p:extLst>
      <p:ext uri="{BB962C8B-B14F-4D97-AF65-F5344CB8AC3E}">
        <p14:creationId xmlns:p14="http://schemas.microsoft.com/office/powerpoint/2010/main" val="724797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915"/>
            <a:ext cx="26112371" cy="8273415"/>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2081421" y="11394520"/>
            <a:ext cx="26112371" cy="2715859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2081421" y="39672757"/>
            <a:ext cx="6811923" cy="2278904"/>
          </a:xfrm>
          <a:prstGeom prst="rect">
            <a:avLst/>
          </a:prstGeom>
        </p:spPr>
        <p:txBody>
          <a:bodyPr vert="horz" lIns="91440" tIns="45720" rIns="91440" bIns="45720" rtlCol="0" anchor="ctr"/>
          <a:lstStyle>
            <a:lvl1pPr algn="l">
              <a:defRPr sz="3973">
                <a:solidFill>
                  <a:schemeClr val="tx1">
                    <a:tint val="75000"/>
                  </a:schemeClr>
                </a:solidFill>
              </a:defRPr>
            </a:lvl1pPr>
          </a:lstStyle>
          <a:p>
            <a:fld id="{101FCEC3-0D0F-4524-8F35-8D86108390A5}" type="datetimeFigureOut">
              <a:rPr lang="zh-CN" altLang="en-US" smtClean="0"/>
              <a:t>2025/12/15</a:t>
            </a:fld>
            <a:endParaRPr lang="zh-CN" altLang="en-US"/>
          </a:p>
        </p:txBody>
      </p:sp>
      <p:sp>
        <p:nvSpPr>
          <p:cNvPr id="5" name="Footer Placeholder 4"/>
          <p:cNvSpPr>
            <a:spLocks noGrp="1"/>
          </p:cNvSpPr>
          <p:nvPr>
            <p:ph type="ftr" sz="quarter" idx="3"/>
          </p:nvPr>
        </p:nvSpPr>
        <p:spPr>
          <a:xfrm>
            <a:off x="10028665" y="39672757"/>
            <a:ext cx="10217884" cy="2278904"/>
          </a:xfrm>
          <a:prstGeom prst="rect">
            <a:avLst/>
          </a:prstGeom>
        </p:spPr>
        <p:txBody>
          <a:bodyPr vert="horz" lIns="91440" tIns="45720" rIns="91440" bIns="45720" rtlCol="0" anchor="ctr"/>
          <a:lstStyle>
            <a:lvl1pPr algn="ctr">
              <a:defRPr sz="3973">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21381869" y="39672757"/>
            <a:ext cx="6811923" cy="2278904"/>
          </a:xfrm>
          <a:prstGeom prst="rect">
            <a:avLst/>
          </a:prstGeom>
        </p:spPr>
        <p:txBody>
          <a:bodyPr vert="horz" lIns="91440" tIns="45720" rIns="91440" bIns="45720" rtlCol="0" anchor="ctr"/>
          <a:lstStyle>
            <a:lvl1pPr algn="r">
              <a:defRPr sz="3973">
                <a:solidFill>
                  <a:schemeClr val="tx1">
                    <a:tint val="75000"/>
                  </a:schemeClr>
                </a:solidFill>
              </a:defRPr>
            </a:lvl1pPr>
          </a:lstStyle>
          <a:p>
            <a:fld id="{E9C28533-A9AA-4D21-918A-25D301CDE0D8}" type="slidenum">
              <a:rPr lang="zh-CN" altLang="en-US" smtClean="0"/>
              <a:t>‹#›</a:t>
            </a:fld>
            <a:endParaRPr lang="zh-CN" altLang="en-US"/>
          </a:p>
        </p:txBody>
      </p:sp>
    </p:spTree>
    <p:extLst>
      <p:ext uri="{BB962C8B-B14F-4D97-AF65-F5344CB8AC3E}">
        <p14:creationId xmlns:p14="http://schemas.microsoft.com/office/powerpoint/2010/main" val="261899649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6"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 name="矩形 392">
            <a:extLst>
              <a:ext uri="{FF2B5EF4-FFF2-40B4-BE49-F238E27FC236}">
                <a16:creationId xmlns:a16="http://schemas.microsoft.com/office/drawing/2014/main" id="{66C9AA09-A944-A513-EDE3-DBE219295BE0}"/>
              </a:ext>
            </a:extLst>
          </p:cNvPr>
          <p:cNvSpPr/>
          <p:nvPr/>
        </p:nvSpPr>
        <p:spPr>
          <a:xfrm>
            <a:off x="-25177" y="4783474"/>
            <a:ext cx="30348000" cy="1200329"/>
          </a:xfrm>
          <a:prstGeom prst="rect">
            <a:avLst/>
          </a:prstGeom>
          <a:solidFill>
            <a:srgbClr val="39485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0" name="矩形 319">
            <a:extLst>
              <a:ext uri="{FF2B5EF4-FFF2-40B4-BE49-F238E27FC236}">
                <a16:creationId xmlns:a16="http://schemas.microsoft.com/office/drawing/2014/main" id="{2AD87A55-18DE-30C6-E12F-DF2FEA61AEC8}"/>
              </a:ext>
            </a:extLst>
          </p:cNvPr>
          <p:cNvSpPr/>
          <p:nvPr/>
        </p:nvSpPr>
        <p:spPr>
          <a:xfrm>
            <a:off x="-25401" y="5971734"/>
            <a:ext cx="30348000" cy="1080000"/>
          </a:xfrm>
          <a:prstGeom prst="rect">
            <a:avLst/>
          </a:prstGeom>
          <a:solidFill>
            <a:srgbClr val="9DAD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1" name="矩形 180">
            <a:extLst>
              <a:ext uri="{FF2B5EF4-FFF2-40B4-BE49-F238E27FC236}">
                <a16:creationId xmlns:a16="http://schemas.microsoft.com/office/drawing/2014/main" id="{6D423677-991C-9920-601F-4A4A9AC98BA8}"/>
              </a:ext>
            </a:extLst>
          </p:cNvPr>
          <p:cNvSpPr/>
          <p:nvPr/>
        </p:nvSpPr>
        <p:spPr>
          <a:xfrm>
            <a:off x="-25401" y="-70482"/>
            <a:ext cx="30348000" cy="4943196"/>
          </a:xfrm>
          <a:prstGeom prst="rect">
            <a:avLst/>
          </a:prstGeom>
          <a:solidFill>
            <a:srgbClr val="0659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3" name="组合 172">
            <a:extLst>
              <a:ext uri="{FF2B5EF4-FFF2-40B4-BE49-F238E27FC236}">
                <a16:creationId xmlns:a16="http://schemas.microsoft.com/office/drawing/2014/main" id="{07605809-A2D2-B5C9-8B83-3E3019542430}"/>
              </a:ext>
            </a:extLst>
          </p:cNvPr>
          <p:cNvGrpSpPr/>
          <p:nvPr/>
        </p:nvGrpSpPr>
        <p:grpSpPr>
          <a:xfrm>
            <a:off x="4010287" y="311732"/>
            <a:ext cx="24756245" cy="4053841"/>
            <a:chOff x="4043472" y="9100347"/>
            <a:chExt cx="24726201" cy="4053841"/>
          </a:xfrm>
          <a:solidFill>
            <a:srgbClr val="56423E"/>
          </a:solidFill>
        </p:grpSpPr>
        <p:sp>
          <p:nvSpPr>
            <p:cNvPr id="165" name="文本框 164">
              <a:extLst>
                <a:ext uri="{FF2B5EF4-FFF2-40B4-BE49-F238E27FC236}">
                  <a16:creationId xmlns:a16="http://schemas.microsoft.com/office/drawing/2014/main" id="{A956A282-CB64-B635-82B8-1518A1AD14ED}"/>
                </a:ext>
              </a:extLst>
            </p:cNvPr>
            <p:cNvSpPr txBox="1"/>
            <p:nvPr/>
          </p:nvSpPr>
          <p:spPr>
            <a:xfrm>
              <a:off x="4043472" y="9100347"/>
              <a:ext cx="24726201" cy="1107996"/>
            </a:xfrm>
            <a:prstGeom prst="rect">
              <a:avLst/>
            </a:prstGeom>
            <a:noFill/>
            <a:ln>
              <a:noFill/>
            </a:ln>
          </p:spPr>
          <p:txBody>
            <a:bodyPr wrap="square" rtlCol="0">
              <a:spAutoFit/>
            </a:bodyPr>
            <a:lstStyle/>
            <a:p>
              <a:r>
                <a:rPr lang="en-US" altLang="zh-CN" sz="6600" b="1" dirty="0" err="1">
                  <a:solidFill>
                    <a:schemeClr val="bg1"/>
                  </a:solidFill>
                </a:rPr>
                <a:t>AutoTool</a:t>
              </a:r>
              <a:r>
                <a:rPr lang="en-US" altLang="zh-CN" sz="6600" b="1" dirty="0">
                  <a:solidFill>
                    <a:schemeClr val="bg1"/>
                  </a:solidFill>
                </a:rPr>
                <a:t>: Efficient Tool Selection for Large Language Model Agents</a:t>
              </a:r>
              <a:endParaRPr lang="zh-CN" altLang="en-US" sz="6600" dirty="0">
                <a:solidFill>
                  <a:schemeClr val="bg1"/>
                </a:solidFill>
              </a:endParaRPr>
            </a:p>
          </p:txBody>
        </p:sp>
        <p:sp>
          <p:nvSpPr>
            <p:cNvPr id="166" name="文本框 165">
              <a:extLst>
                <a:ext uri="{FF2B5EF4-FFF2-40B4-BE49-F238E27FC236}">
                  <a16:creationId xmlns:a16="http://schemas.microsoft.com/office/drawing/2014/main" id="{6A9A36A7-CE98-AB04-5075-EFAD13B6D584}"/>
                </a:ext>
              </a:extLst>
            </p:cNvPr>
            <p:cNvSpPr txBox="1"/>
            <p:nvPr/>
          </p:nvSpPr>
          <p:spPr>
            <a:xfrm>
              <a:off x="12182310" y="10356132"/>
              <a:ext cx="5910592" cy="923330"/>
            </a:xfrm>
            <a:prstGeom prst="rect">
              <a:avLst/>
            </a:prstGeom>
            <a:noFill/>
            <a:ln>
              <a:noFill/>
            </a:ln>
          </p:spPr>
          <p:txBody>
            <a:bodyPr wrap="none" rtlCol="0">
              <a:spAutoFit/>
            </a:bodyPr>
            <a:lstStyle/>
            <a:p>
              <a:r>
                <a:rPr lang="en-US" altLang="zh-CN" sz="5400" b="1" dirty="0">
                  <a:solidFill>
                    <a:schemeClr val="bg1"/>
                  </a:solidFill>
                </a:rPr>
                <a:t>Jingyi Jia, </a:t>
              </a:r>
              <a:r>
                <a:rPr lang="en-US" altLang="zh-CN" sz="5400" b="1" dirty="0" err="1">
                  <a:solidFill>
                    <a:schemeClr val="bg1"/>
                  </a:solidFill>
                </a:rPr>
                <a:t>Qinbin</a:t>
              </a:r>
              <a:r>
                <a:rPr lang="en-US" altLang="zh-CN" sz="5400" b="1" dirty="0">
                  <a:solidFill>
                    <a:schemeClr val="bg1"/>
                  </a:solidFill>
                </a:rPr>
                <a:t> Li</a:t>
              </a:r>
              <a:r>
                <a:rPr lang="en-US" altLang="zh-CN" sz="5400" dirty="0">
                  <a:solidFill>
                    <a:schemeClr val="bg1"/>
                  </a:solidFill>
                </a:rPr>
                <a:t>*</a:t>
              </a:r>
              <a:endParaRPr lang="zh-CN" altLang="en-US" sz="5400" dirty="0">
                <a:solidFill>
                  <a:schemeClr val="bg1"/>
                </a:solidFill>
              </a:endParaRPr>
            </a:p>
          </p:txBody>
        </p:sp>
        <p:sp>
          <p:nvSpPr>
            <p:cNvPr id="168" name="文本框 167">
              <a:extLst>
                <a:ext uri="{FF2B5EF4-FFF2-40B4-BE49-F238E27FC236}">
                  <a16:creationId xmlns:a16="http://schemas.microsoft.com/office/drawing/2014/main" id="{6E7C5940-BB9D-3FAC-63BE-5CA836C09AE5}"/>
                </a:ext>
              </a:extLst>
            </p:cNvPr>
            <p:cNvSpPr txBox="1"/>
            <p:nvPr/>
          </p:nvSpPr>
          <p:spPr>
            <a:xfrm>
              <a:off x="8344735" y="12230858"/>
              <a:ext cx="13585740" cy="923330"/>
            </a:xfrm>
            <a:prstGeom prst="rect">
              <a:avLst/>
            </a:prstGeom>
            <a:noFill/>
            <a:ln>
              <a:noFill/>
            </a:ln>
          </p:spPr>
          <p:txBody>
            <a:bodyPr wrap="square">
              <a:spAutoFit/>
            </a:bodyPr>
            <a:lstStyle/>
            <a:p>
              <a:pPr>
                <a:buNone/>
              </a:pPr>
              <a:r>
                <a:rPr lang="en-US" altLang="zh-CN" sz="5400" dirty="0">
                  <a:solidFill>
                    <a:schemeClr val="bg1"/>
                  </a:solidFill>
                  <a:effectLst/>
                  <a:latin typeface="NimbusRomNo9L-Regu"/>
                </a:rPr>
                <a:t>Huazhong University of Science and Technology</a:t>
              </a:r>
              <a:endParaRPr lang="zh-CN" altLang="en-US" sz="5400" dirty="0">
                <a:solidFill>
                  <a:schemeClr val="bg1"/>
                </a:solidFill>
              </a:endParaRPr>
            </a:p>
          </p:txBody>
        </p:sp>
        <p:sp>
          <p:nvSpPr>
            <p:cNvPr id="172" name="文本框 171">
              <a:extLst>
                <a:ext uri="{FF2B5EF4-FFF2-40B4-BE49-F238E27FC236}">
                  <a16:creationId xmlns:a16="http://schemas.microsoft.com/office/drawing/2014/main" id="{88867AF0-FF3C-D289-8C2A-3C6FBBAF498E}"/>
                </a:ext>
              </a:extLst>
            </p:cNvPr>
            <p:cNvSpPr txBox="1"/>
            <p:nvPr/>
          </p:nvSpPr>
          <p:spPr>
            <a:xfrm>
              <a:off x="8818854" y="11307528"/>
              <a:ext cx="12637503" cy="923330"/>
            </a:xfrm>
            <a:prstGeom prst="rect">
              <a:avLst/>
            </a:prstGeom>
            <a:noFill/>
            <a:ln>
              <a:noFill/>
            </a:ln>
          </p:spPr>
          <p:txBody>
            <a:bodyPr wrap="square">
              <a:spAutoFit/>
            </a:bodyPr>
            <a:lstStyle/>
            <a:p>
              <a:r>
                <a:rPr lang="en-US" altLang="zh-CN" sz="5400" dirty="0">
                  <a:solidFill>
                    <a:schemeClr val="bg1"/>
                  </a:solidFill>
                  <a:latin typeface="NimbusRomNo9L-Regu"/>
                </a:rPr>
                <a:t>School of Computer Science and Technology </a:t>
              </a:r>
            </a:p>
          </p:txBody>
        </p:sp>
      </p:grpSp>
      <p:sp>
        <p:nvSpPr>
          <p:cNvPr id="184" name="文本框 183">
            <a:extLst>
              <a:ext uri="{FF2B5EF4-FFF2-40B4-BE49-F238E27FC236}">
                <a16:creationId xmlns:a16="http://schemas.microsoft.com/office/drawing/2014/main" id="{6DAB434C-6DDF-6F7D-8C14-537ABA4E6A8E}"/>
              </a:ext>
            </a:extLst>
          </p:cNvPr>
          <p:cNvSpPr txBox="1"/>
          <p:nvPr/>
        </p:nvSpPr>
        <p:spPr>
          <a:xfrm>
            <a:off x="465342" y="4872914"/>
            <a:ext cx="29757311" cy="923330"/>
          </a:xfrm>
          <a:prstGeom prst="rect">
            <a:avLst/>
          </a:prstGeom>
          <a:noFill/>
        </p:spPr>
        <p:txBody>
          <a:bodyPr wrap="square">
            <a:spAutoFit/>
          </a:bodyPr>
          <a:lstStyle/>
          <a:p>
            <a:pPr>
              <a:buNone/>
            </a:pPr>
            <a:r>
              <a:rPr lang="en-US" altLang="zh-CN" sz="5400" b="1" i="1" dirty="0">
                <a:solidFill>
                  <a:schemeClr val="bg1"/>
                </a:solidFill>
                <a:effectLst/>
                <a:latin typeface="NimbusRomNo9L-MediItal"/>
              </a:rPr>
              <a:t>Can we utilize statistical methods instead of relying heavily on LLM inference to select tools efficiently?</a:t>
            </a:r>
          </a:p>
        </p:txBody>
      </p:sp>
      <p:sp>
        <p:nvSpPr>
          <p:cNvPr id="191" name="文本框 190">
            <a:extLst>
              <a:ext uri="{FF2B5EF4-FFF2-40B4-BE49-F238E27FC236}">
                <a16:creationId xmlns:a16="http://schemas.microsoft.com/office/drawing/2014/main" id="{FEC38852-973E-57BA-C3AC-B6CA1B113020}"/>
              </a:ext>
            </a:extLst>
          </p:cNvPr>
          <p:cNvSpPr txBox="1"/>
          <p:nvPr/>
        </p:nvSpPr>
        <p:spPr>
          <a:xfrm>
            <a:off x="12969473" y="5861261"/>
            <a:ext cx="4864145" cy="1200329"/>
          </a:xfrm>
          <a:prstGeom prst="rect">
            <a:avLst/>
          </a:prstGeom>
          <a:noFill/>
        </p:spPr>
        <p:txBody>
          <a:bodyPr wrap="square">
            <a:spAutoFit/>
          </a:bodyPr>
          <a:lstStyle/>
          <a:p>
            <a:r>
              <a:rPr lang="en-US" altLang="zh-CN" sz="7200" b="1" dirty="0">
                <a:solidFill>
                  <a:schemeClr val="bg1"/>
                </a:solidFill>
                <a:latin typeface="NimbusRomNo9L-Medi"/>
              </a:rPr>
              <a:t>Motivation</a:t>
            </a:r>
            <a:endParaRPr lang="zh-CN" altLang="en-US" sz="7200" b="1" dirty="0">
              <a:solidFill>
                <a:schemeClr val="bg1"/>
              </a:solidFill>
              <a:latin typeface="NimbusRomNo9L-Medi"/>
            </a:endParaRPr>
          </a:p>
        </p:txBody>
      </p:sp>
      <p:sp>
        <p:nvSpPr>
          <p:cNvPr id="194" name="文本框 193">
            <a:extLst>
              <a:ext uri="{FF2B5EF4-FFF2-40B4-BE49-F238E27FC236}">
                <a16:creationId xmlns:a16="http://schemas.microsoft.com/office/drawing/2014/main" id="{D6993EFB-F8BD-65FD-6658-C5196A85D04D}"/>
              </a:ext>
            </a:extLst>
          </p:cNvPr>
          <p:cNvSpPr txBox="1"/>
          <p:nvPr/>
        </p:nvSpPr>
        <p:spPr>
          <a:xfrm>
            <a:off x="517903" y="7205887"/>
            <a:ext cx="14619704" cy="707886"/>
          </a:xfrm>
          <a:prstGeom prst="rect">
            <a:avLst/>
          </a:prstGeom>
          <a:noFill/>
        </p:spPr>
        <p:txBody>
          <a:bodyPr wrap="square" rtlCol="0">
            <a:spAutoFit/>
          </a:bodyPr>
          <a:lstStyle/>
          <a:p>
            <a:r>
              <a:rPr lang="en-US" altLang="zh-CN" sz="4000" b="1" dirty="0"/>
              <a:t>(a)</a:t>
            </a:r>
            <a:r>
              <a:rPr lang="zh-CN" altLang="en-US" sz="4000" b="1" dirty="0"/>
              <a:t> </a:t>
            </a:r>
            <a:r>
              <a:rPr lang="en-US" altLang="zh-CN" sz="4000" b="1" dirty="0"/>
              <a:t>LLM Agents have high inference costs for tool selection</a:t>
            </a:r>
            <a:endParaRPr lang="zh-CN" altLang="en-US" sz="4000" b="1" dirty="0"/>
          </a:p>
        </p:txBody>
      </p:sp>
      <p:sp>
        <p:nvSpPr>
          <p:cNvPr id="195" name="文本框 194">
            <a:extLst>
              <a:ext uri="{FF2B5EF4-FFF2-40B4-BE49-F238E27FC236}">
                <a16:creationId xmlns:a16="http://schemas.microsoft.com/office/drawing/2014/main" id="{E1F9F2E5-B4EC-A125-4E34-EC5BAE9CB33E}"/>
              </a:ext>
            </a:extLst>
          </p:cNvPr>
          <p:cNvSpPr txBox="1"/>
          <p:nvPr/>
        </p:nvSpPr>
        <p:spPr>
          <a:xfrm>
            <a:off x="14895455" y="7269508"/>
            <a:ext cx="15379758" cy="707886"/>
          </a:xfrm>
          <a:prstGeom prst="rect">
            <a:avLst/>
          </a:prstGeom>
          <a:noFill/>
        </p:spPr>
        <p:txBody>
          <a:bodyPr wrap="square" rtlCol="0">
            <a:spAutoFit/>
          </a:bodyPr>
          <a:lstStyle/>
          <a:p>
            <a:r>
              <a:rPr lang="en-US" altLang="zh-CN" sz="4000" b="1" dirty="0"/>
              <a:t>(b) Tool Invocation Exhibits Predictable, Low Entropy Inertia</a:t>
            </a:r>
            <a:endParaRPr lang="zh-CN" altLang="en-US" sz="4000" b="1" dirty="0"/>
          </a:p>
        </p:txBody>
      </p:sp>
      <p:sp>
        <p:nvSpPr>
          <p:cNvPr id="329" name="矩形 328">
            <a:extLst>
              <a:ext uri="{FF2B5EF4-FFF2-40B4-BE49-F238E27FC236}">
                <a16:creationId xmlns:a16="http://schemas.microsoft.com/office/drawing/2014/main" id="{EFF9ACD5-D896-FC6E-8DE1-97FB2FC0CF17}"/>
              </a:ext>
            </a:extLst>
          </p:cNvPr>
          <p:cNvSpPr/>
          <p:nvPr/>
        </p:nvSpPr>
        <p:spPr>
          <a:xfrm>
            <a:off x="-20321" y="14653015"/>
            <a:ext cx="30312000" cy="1080000"/>
          </a:xfrm>
          <a:prstGeom prst="rect">
            <a:avLst/>
          </a:prstGeom>
          <a:solidFill>
            <a:srgbClr val="9DAD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0" name="文本框 199">
            <a:extLst>
              <a:ext uri="{FF2B5EF4-FFF2-40B4-BE49-F238E27FC236}">
                <a16:creationId xmlns:a16="http://schemas.microsoft.com/office/drawing/2014/main" id="{B8AFF31F-C41A-70AB-8D74-2E60FC37C5DC}"/>
              </a:ext>
            </a:extLst>
          </p:cNvPr>
          <p:cNvSpPr txBox="1"/>
          <p:nvPr/>
        </p:nvSpPr>
        <p:spPr>
          <a:xfrm>
            <a:off x="12313909" y="14532005"/>
            <a:ext cx="5383961" cy="1200329"/>
          </a:xfrm>
          <a:prstGeom prst="rect">
            <a:avLst/>
          </a:prstGeom>
          <a:noFill/>
        </p:spPr>
        <p:txBody>
          <a:bodyPr wrap="square">
            <a:spAutoFit/>
          </a:bodyPr>
          <a:lstStyle/>
          <a:p>
            <a:r>
              <a:rPr lang="en-US" altLang="zh-CN" sz="7200" b="1" dirty="0">
                <a:solidFill>
                  <a:schemeClr val="bg1"/>
                </a:solidFill>
                <a:latin typeface="NimbusRomNo9L-Medi"/>
              </a:rPr>
              <a:t>Methodology</a:t>
            </a:r>
            <a:endParaRPr lang="zh-CN" altLang="en-US" sz="7200" b="1" dirty="0">
              <a:solidFill>
                <a:schemeClr val="bg1"/>
              </a:solidFill>
              <a:latin typeface="NimbusRomNo9L-Medi"/>
            </a:endParaRPr>
          </a:p>
        </p:txBody>
      </p:sp>
      <p:sp>
        <p:nvSpPr>
          <p:cNvPr id="330" name="矩形 329">
            <a:extLst>
              <a:ext uri="{FF2B5EF4-FFF2-40B4-BE49-F238E27FC236}">
                <a16:creationId xmlns:a16="http://schemas.microsoft.com/office/drawing/2014/main" id="{E7CE5159-12A7-0F94-7668-28AF0218E21E}"/>
              </a:ext>
            </a:extLst>
          </p:cNvPr>
          <p:cNvSpPr/>
          <p:nvPr/>
        </p:nvSpPr>
        <p:spPr>
          <a:xfrm>
            <a:off x="-35557" y="30688519"/>
            <a:ext cx="30348000" cy="1080000"/>
          </a:xfrm>
          <a:prstGeom prst="rect">
            <a:avLst/>
          </a:prstGeom>
          <a:solidFill>
            <a:srgbClr val="9DAD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1" name="文本框 200">
            <a:extLst>
              <a:ext uri="{FF2B5EF4-FFF2-40B4-BE49-F238E27FC236}">
                <a16:creationId xmlns:a16="http://schemas.microsoft.com/office/drawing/2014/main" id="{843FE5A8-00F8-924B-584D-87C080A6C121}"/>
              </a:ext>
            </a:extLst>
          </p:cNvPr>
          <p:cNvSpPr txBox="1"/>
          <p:nvPr/>
        </p:nvSpPr>
        <p:spPr>
          <a:xfrm>
            <a:off x="12443264" y="30624497"/>
            <a:ext cx="5390355" cy="1200329"/>
          </a:xfrm>
          <a:prstGeom prst="rect">
            <a:avLst/>
          </a:prstGeom>
          <a:noFill/>
        </p:spPr>
        <p:txBody>
          <a:bodyPr wrap="square">
            <a:spAutoFit/>
          </a:bodyPr>
          <a:lstStyle/>
          <a:p>
            <a:r>
              <a:rPr lang="en-US" altLang="zh-CN" sz="7200" b="1" dirty="0">
                <a:solidFill>
                  <a:schemeClr val="bg1"/>
                </a:solidFill>
                <a:latin typeface="NimbusRomNo9L-Medi"/>
              </a:rPr>
              <a:t>Main Results</a:t>
            </a:r>
            <a:endParaRPr lang="zh-CN" altLang="en-US" sz="7200" b="1" dirty="0">
              <a:solidFill>
                <a:schemeClr val="bg1"/>
              </a:solidFill>
              <a:latin typeface="NimbusRomNo9L-Medi"/>
            </a:endParaRPr>
          </a:p>
        </p:txBody>
      </p:sp>
      <p:sp>
        <p:nvSpPr>
          <p:cNvPr id="265" name="文本框 230">
            <a:extLst>
              <a:ext uri="{FF2B5EF4-FFF2-40B4-BE49-F238E27FC236}">
                <a16:creationId xmlns:a16="http://schemas.microsoft.com/office/drawing/2014/main" id="{1EFD0A9A-DBB6-3C18-39E0-064A28CE57A9}"/>
              </a:ext>
            </a:extLst>
          </p:cNvPr>
          <p:cNvSpPr txBox="1"/>
          <p:nvPr/>
        </p:nvSpPr>
        <p:spPr>
          <a:xfrm>
            <a:off x="14249221" y="15871943"/>
            <a:ext cx="13043244" cy="73308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177"/>
            <a:r>
              <a:rPr lang="en-US" altLang="zh-CN" sz="4000" b="1" dirty="0"/>
              <a:t>(b) Match based on frequency and the contextual relevance.</a:t>
            </a:r>
            <a:endParaRPr lang="zh-CN" altLang="en-US" sz="4000" b="1" dirty="0"/>
          </a:p>
        </p:txBody>
      </p:sp>
      <p:sp>
        <p:nvSpPr>
          <p:cNvPr id="298" name="文本框 242">
            <a:extLst>
              <a:ext uri="{FF2B5EF4-FFF2-40B4-BE49-F238E27FC236}">
                <a16:creationId xmlns:a16="http://schemas.microsoft.com/office/drawing/2014/main" id="{CA3EC36E-EA75-1B65-E3D0-9616D43C5356}"/>
              </a:ext>
            </a:extLst>
          </p:cNvPr>
          <p:cNvSpPr txBox="1"/>
          <p:nvPr/>
        </p:nvSpPr>
        <p:spPr>
          <a:xfrm>
            <a:off x="14411388" y="24658098"/>
            <a:ext cx="10926700" cy="70604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177"/>
            <a:r>
              <a:rPr lang="en-US" altLang="zh-CN" sz="4000" b="1" dirty="0"/>
              <a:t>(c) Param filling through backtracking param flow.</a:t>
            </a:r>
            <a:endParaRPr lang="zh-CN" altLang="en-US" sz="4000" b="1" dirty="0"/>
          </a:p>
        </p:txBody>
      </p:sp>
      <p:grpSp>
        <p:nvGrpSpPr>
          <p:cNvPr id="313" name="组合 312">
            <a:extLst>
              <a:ext uri="{FF2B5EF4-FFF2-40B4-BE49-F238E27FC236}">
                <a16:creationId xmlns:a16="http://schemas.microsoft.com/office/drawing/2014/main" id="{B2C541ED-0E31-B63A-EA64-8B524000D66F}"/>
              </a:ext>
            </a:extLst>
          </p:cNvPr>
          <p:cNvGrpSpPr>
            <a:grpSpLocks noChangeAspect="1"/>
          </p:cNvGrpSpPr>
          <p:nvPr/>
        </p:nvGrpSpPr>
        <p:grpSpPr>
          <a:xfrm>
            <a:off x="86378" y="33728796"/>
            <a:ext cx="14468098" cy="7708010"/>
            <a:chOff x="14589502" y="34575258"/>
            <a:chExt cx="15175443" cy="8228505"/>
          </a:xfrm>
        </p:grpSpPr>
        <p:pic>
          <p:nvPicPr>
            <p:cNvPr id="178" name="图片 177" descr="图表, 折线图&#10;&#10;AI 生成的内容可能不正确。">
              <a:extLst>
                <a:ext uri="{FF2B5EF4-FFF2-40B4-BE49-F238E27FC236}">
                  <a16:creationId xmlns:a16="http://schemas.microsoft.com/office/drawing/2014/main" id="{F1E312CB-141E-795C-6DA0-AA8ED037A550}"/>
                </a:ext>
              </a:extLst>
            </p:cNvPr>
            <p:cNvPicPr>
              <a:picLocks noChangeAspect="1"/>
            </p:cNvPicPr>
            <p:nvPr/>
          </p:nvPicPr>
          <p:blipFill>
            <a:blip r:embed="rId2"/>
            <a:stretch>
              <a:fillRect/>
            </a:stretch>
          </p:blipFill>
          <p:spPr>
            <a:xfrm>
              <a:off x="14589502" y="38421651"/>
              <a:ext cx="15175443" cy="4382112"/>
            </a:xfrm>
            <a:prstGeom prst="rect">
              <a:avLst/>
            </a:prstGeom>
          </p:spPr>
        </p:pic>
        <p:pic>
          <p:nvPicPr>
            <p:cNvPr id="199" name="图片 198" descr="表格&#10;&#10;AI 生成的内容可能不正确。">
              <a:extLst>
                <a:ext uri="{FF2B5EF4-FFF2-40B4-BE49-F238E27FC236}">
                  <a16:creationId xmlns:a16="http://schemas.microsoft.com/office/drawing/2014/main" id="{BC6CB302-17E5-C203-ECC3-32FA34584D73}"/>
                </a:ext>
              </a:extLst>
            </p:cNvPr>
            <p:cNvPicPr>
              <a:picLocks noChangeAspect="1"/>
            </p:cNvPicPr>
            <p:nvPr/>
          </p:nvPicPr>
          <p:blipFill>
            <a:blip r:embed="rId3"/>
            <a:stretch>
              <a:fillRect/>
            </a:stretch>
          </p:blipFill>
          <p:spPr>
            <a:xfrm>
              <a:off x="14918682" y="34575258"/>
              <a:ext cx="14816859" cy="3856976"/>
            </a:xfrm>
            <a:prstGeom prst="rect">
              <a:avLst/>
            </a:prstGeom>
          </p:spPr>
        </p:pic>
      </p:grpSp>
      <p:grpSp>
        <p:nvGrpSpPr>
          <p:cNvPr id="311" name="组合 310">
            <a:extLst>
              <a:ext uri="{FF2B5EF4-FFF2-40B4-BE49-F238E27FC236}">
                <a16:creationId xmlns:a16="http://schemas.microsoft.com/office/drawing/2014/main" id="{A7F61978-41AF-6146-2FCD-3C5868A867ED}"/>
              </a:ext>
            </a:extLst>
          </p:cNvPr>
          <p:cNvGrpSpPr>
            <a:grpSpLocks noChangeAspect="1"/>
          </p:cNvGrpSpPr>
          <p:nvPr/>
        </p:nvGrpSpPr>
        <p:grpSpPr>
          <a:xfrm>
            <a:off x="15174223" y="33797354"/>
            <a:ext cx="14152151" cy="7697328"/>
            <a:chOff x="8016675" y="19510905"/>
            <a:chExt cx="14251389" cy="7751303"/>
          </a:xfrm>
        </p:grpSpPr>
        <p:pic>
          <p:nvPicPr>
            <p:cNvPr id="308" name="图片 307" descr="表格&#10;&#10;AI 生成的内容可能不正确。">
              <a:extLst>
                <a:ext uri="{FF2B5EF4-FFF2-40B4-BE49-F238E27FC236}">
                  <a16:creationId xmlns:a16="http://schemas.microsoft.com/office/drawing/2014/main" id="{78DFE707-6F39-E5B4-5A89-E29BEF73E47B}"/>
                </a:ext>
              </a:extLst>
            </p:cNvPr>
            <p:cNvPicPr>
              <a:picLocks noChangeAspect="1"/>
            </p:cNvPicPr>
            <p:nvPr/>
          </p:nvPicPr>
          <p:blipFill>
            <a:blip r:embed="rId4"/>
            <a:stretch>
              <a:fillRect/>
            </a:stretch>
          </p:blipFill>
          <p:spPr>
            <a:xfrm>
              <a:off x="8016675" y="19510905"/>
              <a:ext cx="14241863" cy="3781953"/>
            </a:xfrm>
            <a:prstGeom prst="rect">
              <a:avLst/>
            </a:prstGeom>
          </p:spPr>
        </p:pic>
        <p:pic>
          <p:nvPicPr>
            <p:cNvPr id="310" name="图片 309" descr="表格&#10;&#10;AI 生成的内容可能不正确。">
              <a:extLst>
                <a:ext uri="{FF2B5EF4-FFF2-40B4-BE49-F238E27FC236}">
                  <a16:creationId xmlns:a16="http://schemas.microsoft.com/office/drawing/2014/main" id="{F3790988-CFCA-61F9-EA77-26C0E3411CED}"/>
                </a:ext>
              </a:extLst>
            </p:cNvPr>
            <p:cNvPicPr>
              <a:picLocks noChangeAspect="1"/>
            </p:cNvPicPr>
            <p:nvPr/>
          </p:nvPicPr>
          <p:blipFill>
            <a:blip r:embed="rId5"/>
            <a:stretch>
              <a:fillRect/>
            </a:stretch>
          </p:blipFill>
          <p:spPr>
            <a:xfrm>
              <a:off x="8016675" y="23299255"/>
              <a:ext cx="14251389" cy="3962953"/>
            </a:xfrm>
            <a:prstGeom prst="rect">
              <a:avLst/>
            </a:prstGeom>
          </p:spPr>
        </p:pic>
      </p:grpSp>
      <p:grpSp>
        <p:nvGrpSpPr>
          <p:cNvPr id="318" name="组合 317">
            <a:extLst>
              <a:ext uri="{FF2B5EF4-FFF2-40B4-BE49-F238E27FC236}">
                <a16:creationId xmlns:a16="http://schemas.microsoft.com/office/drawing/2014/main" id="{18684F8A-66E7-DDC7-4594-EE6A9E0C1B05}"/>
              </a:ext>
            </a:extLst>
          </p:cNvPr>
          <p:cNvGrpSpPr/>
          <p:nvPr/>
        </p:nvGrpSpPr>
        <p:grpSpPr>
          <a:xfrm>
            <a:off x="14554476" y="7838157"/>
            <a:ext cx="14686641" cy="4813976"/>
            <a:chOff x="7392517" y="16331483"/>
            <a:chExt cx="14750788" cy="5055127"/>
          </a:xfrm>
        </p:grpSpPr>
        <p:pic>
          <p:nvPicPr>
            <p:cNvPr id="197" name="图片 196" descr="表格&#10;&#10;AI 生成的内容可能不正确。">
              <a:extLst>
                <a:ext uri="{FF2B5EF4-FFF2-40B4-BE49-F238E27FC236}">
                  <a16:creationId xmlns:a16="http://schemas.microsoft.com/office/drawing/2014/main" id="{BB37555C-3B28-A5F3-AC1D-EED92D677110}"/>
                </a:ext>
              </a:extLst>
            </p:cNvPr>
            <p:cNvPicPr>
              <a:picLocks noChangeAspect="1"/>
            </p:cNvPicPr>
            <p:nvPr/>
          </p:nvPicPr>
          <p:blipFill>
            <a:blip r:embed="rId6"/>
            <a:stretch>
              <a:fillRect/>
            </a:stretch>
          </p:blipFill>
          <p:spPr>
            <a:xfrm>
              <a:off x="14757065" y="16530350"/>
              <a:ext cx="7386240" cy="4820621"/>
            </a:xfrm>
            <a:prstGeom prst="rect">
              <a:avLst/>
            </a:prstGeom>
          </p:spPr>
        </p:pic>
        <p:pic>
          <p:nvPicPr>
            <p:cNvPr id="315" name="图片 314" descr="卡通人物&#10;&#10;AI 生成的内容可能不正确。">
              <a:extLst>
                <a:ext uri="{FF2B5EF4-FFF2-40B4-BE49-F238E27FC236}">
                  <a16:creationId xmlns:a16="http://schemas.microsoft.com/office/drawing/2014/main" id="{35938565-AEA0-B371-5D5E-F56DFAEC0A13}"/>
                </a:ext>
              </a:extLst>
            </p:cNvPr>
            <p:cNvPicPr>
              <a:picLocks noChangeAspect="1"/>
            </p:cNvPicPr>
            <p:nvPr/>
          </p:nvPicPr>
          <p:blipFill>
            <a:blip r:embed="rId7"/>
            <a:stretch>
              <a:fillRect/>
            </a:stretch>
          </p:blipFill>
          <p:spPr>
            <a:xfrm>
              <a:off x="7392517" y="16331483"/>
              <a:ext cx="5681580" cy="5055127"/>
            </a:xfrm>
            <a:prstGeom prst="rect">
              <a:avLst/>
            </a:prstGeom>
          </p:spPr>
        </p:pic>
      </p:grpSp>
      <p:sp>
        <p:nvSpPr>
          <p:cNvPr id="326" name="文本框 325">
            <a:extLst>
              <a:ext uri="{FF2B5EF4-FFF2-40B4-BE49-F238E27FC236}">
                <a16:creationId xmlns:a16="http://schemas.microsoft.com/office/drawing/2014/main" id="{BC3C3657-D24E-EE54-996B-C4CDFEBC5C91}"/>
              </a:ext>
            </a:extLst>
          </p:cNvPr>
          <p:cNvSpPr txBox="1"/>
          <p:nvPr/>
        </p:nvSpPr>
        <p:spPr>
          <a:xfrm>
            <a:off x="647269" y="7930153"/>
            <a:ext cx="13380480" cy="6186309"/>
          </a:xfrm>
          <a:prstGeom prst="rect">
            <a:avLst/>
          </a:prstGeom>
          <a:noFill/>
        </p:spPr>
        <p:txBody>
          <a:bodyPr wrap="square" rtlCol="0">
            <a:spAutoFit/>
          </a:bodyPr>
          <a:lstStyle/>
          <a:p>
            <a:r>
              <a:rPr lang="en-US" altLang="zh-CN" sz="3600" dirty="0"/>
              <a:t>Current agent frameworks lies in the high inference cost of tool selection, especially in approaches like </a:t>
            </a:r>
            <a:r>
              <a:rPr lang="en-US" altLang="zh-CN" sz="3600" dirty="0" err="1"/>
              <a:t>ReAct</a:t>
            </a:r>
            <a:r>
              <a:rPr lang="en-US" altLang="zh-CN" sz="3600" dirty="0"/>
              <a:t> that repeatedly invoke the LLM to determine which tool to use at each step. We argue that this universal reliance on the LLM is not only </a:t>
            </a:r>
            <a:r>
              <a:rPr lang="en-US" altLang="zh-CN" sz="3600" b="1" dirty="0"/>
              <a:t>costly</a:t>
            </a:r>
            <a:r>
              <a:rPr lang="en-US" altLang="zh-CN" sz="3600" dirty="0"/>
              <a:t> but also </a:t>
            </a:r>
            <a:r>
              <a:rPr lang="en-US" altLang="zh-CN" sz="3600" b="1" i="1" dirty="0"/>
              <a:t>sub-optimal</a:t>
            </a:r>
            <a:r>
              <a:rPr lang="en-US" altLang="zh-CN" sz="3600" dirty="0"/>
              <a:t>. The core issue is that not all decision steps in a task are of equal complexity or importance. Many tool invocations, both for selection and parameter filling, occur in highly patterned or repetitive contexts that do not require the LLM’s full, nuanced reasoning power. This universal application of a resource-intensive model for both complex and simple decisions constitutes an over-utilization of its powerful abilities, creating unnecessary computational overhead.</a:t>
            </a:r>
            <a:endParaRPr lang="zh-CN" altLang="en-US" sz="3600" dirty="0"/>
          </a:p>
        </p:txBody>
      </p:sp>
      <p:grpSp>
        <p:nvGrpSpPr>
          <p:cNvPr id="375" name="组合 374">
            <a:extLst>
              <a:ext uri="{FF2B5EF4-FFF2-40B4-BE49-F238E27FC236}">
                <a16:creationId xmlns:a16="http://schemas.microsoft.com/office/drawing/2014/main" id="{B093F8D7-A43A-A436-6B12-0114C9B04D20}"/>
              </a:ext>
            </a:extLst>
          </p:cNvPr>
          <p:cNvGrpSpPr/>
          <p:nvPr/>
        </p:nvGrpSpPr>
        <p:grpSpPr>
          <a:xfrm>
            <a:off x="259558" y="21797436"/>
            <a:ext cx="13396803" cy="8791549"/>
            <a:chOff x="259558" y="22586832"/>
            <a:chExt cx="13396803" cy="8791549"/>
          </a:xfrm>
        </p:grpSpPr>
        <p:sp>
          <p:nvSpPr>
            <p:cNvPr id="227" name="文本框 339">
              <a:extLst>
                <a:ext uri="{FF2B5EF4-FFF2-40B4-BE49-F238E27FC236}">
                  <a16:creationId xmlns:a16="http://schemas.microsoft.com/office/drawing/2014/main" id="{71FB2B76-60AD-B212-6220-49A42AFAB4F2}"/>
                </a:ext>
              </a:extLst>
            </p:cNvPr>
            <p:cNvSpPr txBox="1"/>
            <p:nvPr/>
          </p:nvSpPr>
          <p:spPr>
            <a:xfrm>
              <a:off x="469371" y="29810516"/>
              <a:ext cx="13125251" cy="15678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177">
                <a:lnSpc>
                  <a:spcPts val="3800"/>
                </a:lnSpc>
              </a:pPr>
              <a:r>
                <a:rPr lang="en-US" altLang="zh-CN" sz="4000" b="1" dirty="0"/>
                <a:t>(a) Before each step, attempt inertial invocation. If both inertia detection and parameter filling succeed, invoke the tool; otherwise, defer to the LLM.</a:t>
              </a:r>
              <a:endParaRPr lang="zh-CN" altLang="en-US" sz="4000" b="1" dirty="0"/>
            </a:p>
          </p:txBody>
        </p:sp>
        <p:grpSp>
          <p:nvGrpSpPr>
            <p:cNvPr id="303" name="组合 302">
              <a:extLst>
                <a:ext uri="{FF2B5EF4-FFF2-40B4-BE49-F238E27FC236}">
                  <a16:creationId xmlns:a16="http://schemas.microsoft.com/office/drawing/2014/main" id="{03A1D254-25DD-3281-E121-290C52D19A7C}"/>
                </a:ext>
              </a:extLst>
            </p:cNvPr>
            <p:cNvGrpSpPr>
              <a:grpSpLocks noChangeAspect="1"/>
            </p:cNvGrpSpPr>
            <p:nvPr/>
          </p:nvGrpSpPr>
          <p:grpSpPr>
            <a:xfrm>
              <a:off x="951497" y="22586832"/>
              <a:ext cx="12448555" cy="1551072"/>
              <a:chOff x="10050010" y="19051394"/>
              <a:chExt cx="5471599" cy="681753"/>
            </a:xfrm>
          </p:grpSpPr>
          <p:pic>
            <p:nvPicPr>
              <p:cNvPr id="304" name="图片 303">
                <a:extLst>
                  <a:ext uri="{FF2B5EF4-FFF2-40B4-BE49-F238E27FC236}">
                    <a16:creationId xmlns:a16="http://schemas.microsoft.com/office/drawing/2014/main" id="{308C5E78-077D-B6F5-3A6D-48BB8C2705A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050010" y="19051394"/>
                <a:ext cx="681752" cy="681753"/>
              </a:xfrm>
              <a:prstGeom prst="rect">
                <a:avLst/>
              </a:prstGeom>
            </p:spPr>
          </p:pic>
          <p:sp>
            <p:nvSpPr>
              <p:cNvPr id="305" name="对话气泡: 圆角矩形 304">
                <a:extLst>
                  <a:ext uri="{FF2B5EF4-FFF2-40B4-BE49-F238E27FC236}">
                    <a16:creationId xmlns:a16="http://schemas.microsoft.com/office/drawing/2014/main" id="{8E35EA3D-46B1-7D92-9580-8B4C9EFB4AC5}"/>
                  </a:ext>
                </a:extLst>
              </p:cNvPr>
              <p:cNvSpPr/>
              <p:nvPr/>
            </p:nvSpPr>
            <p:spPr>
              <a:xfrm rot="5400000">
                <a:off x="13158183" y="17475143"/>
                <a:ext cx="551578" cy="3884607"/>
              </a:xfrm>
              <a:prstGeom prst="wedgeRoundRectCallout">
                <a:avLst/>
              </a:prstGeom>
              <a:solidFill>
                <a:schemeClr val="accent4">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15"/>
              </a:p>
            </p:txBody>
          </p:sp>
          <p:sp>
            <p:nvSpPr>
              <p:cNvPr id="306" name="文本框 16">
                <a:extLst>
                  <a:ext uri="{FF2B5EF4-FFF2-40B4-BE49-F238E27FC236}">
                    <a16:creationId xmlns:a16="http://schemas.microsoft.com/office/drawing/2014/main" id="{D06F85C6-0259-5C1E-B608-40857AB5363B}"/>
                  </a:ext>
                </a:extLst>
              </p:cNvPr>
              <p:cNvSpPr txBox="1"/>
              <p:nvPr/>
            </p:nvSpPr>
            <p:spPr>
              <a:xfrm>
                <a:off x="11596039" y="19129994"/>
                <a:ext cx="3925570" cy="5198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4500"/>
                  </a:lnSpc>
                </a:pPr>
                <a:r>
                  <a:rPr lang="en-US" altLang="zh-CN" sz="2400" dirty="0">
                    <a:solidFill>
                      <a:srgbClr val="CE9178"/>
                    </a:solidFill>
                    <a:latin typeface="JetBrains Mono" panose="020B0509020102050004" pitchFamily="49" charset="0"/>
                  </a:rPr>
                  <a:t>In the DBLP citation network, which venue has the most publications by Andrea </a:t>
                </a:r>
                <a:r>
                  <a:rPr lang="en-US" altLang="zh-CN" sz="2400" dirty="0" err="1">
                    <a:solidFill>
                      <a:srgbClr val="CE9178"/>
                    </a:solidFill>
                    <a:latin typeface="JetBrains Mono" panose="020B0509020102050004" pitchFamily="49" charset="0"/>
                  </a:rPr>
                  <a:t>Omicini</a:t>
                </a:r>
                <a:r>
                  <a:rPr lang="en-US" altLang="zh-CN" sz="2400" dirty="0">
                    <a:solidFill>
                      <a:srgbClr val="CE9178"/>
                    </a:solidFill>
                    <a:latin typeface="JetBrains Mono" panose="020B0509020102050004" pitchFamily="49" charset="0"/>
                  </a:rPr>
                  <a:t>?</a:t>
                </a:r>
                <a:endParaRPr lang="en-US" altLang="zh-CN" sz="2400" dirty="0">
                  <a:solidFill>
                    <a:srgbClr val="CCCCCC"/>
                  </a:solidFill>
                  <a:latin typeface="JetBrains Mono" panose="020B0509020102050004" pitchFamily="49" charset="0"/>
                </a:endParaRPr>
              </a:p>
            </p:txBody>
          </p:sp>
        </p:grpSp>
        <p:pic>
          <p:nvPicPr>
            <p:cNvPr id="333" name="图片 332" descr="图示&#10;&#10;AI 生成的内容可能不正确。">
              <a:extLst>
                <a:ext uri="{FF2B5EF4-FFF2-40B4-BE49-F238E27FC236}">
                  <a16:creationId xmlns:a16="http://schemas.microsoft.com/office/drawing/2014/main" id="{9E3FD1CB-CE0A-D709-D75C-5191DAEA204E}"/>
                </a:ext>
              </a:extLst>
            </p:cNvPr>
            <p:cNvPicPr>
              <a:picLocks noChangeAspect="1"/>
            </p:cNvPicPr>
            <p:nvPr/>
          </p:nvPicPr>
          <p:blipFill>
            <a:blip r:embed="rId9"/>
            <a:stretch>
              <a:fillRect/>
            </a:stretch>
          </p:blipFill>
          <p:spPr>
            <a:xfrm>
              <a:off x="259558" y="24164439"/>
              <a:ext cx="13396803" cy="5606334"/>
            </a:xfrm>
            <a:prstGeom prst="rect">
              <a:avLst/>
            </a:prstGeom>
          </p:spPr>
        </p:pic>
      </p:grpSp>
      <p:pic>
        <p:nvPicPr>
          <p:cNvPr id="343" name="图片 342" descr="图示&#10;&#10;AI 生成的内容可能不正确。">
            <a:extLst>
              <a:ext uri="{FF2B5EF4-FFF2-40B4-BE49-F238E27FC236}">
                <a16:creationId xmlns:a16="http://schemas.microsoft.com/office/drawing/2014/main" id="{F92A2C4D-CC1F-D5B0-BBD4-7CB2DAE843C4}"/>
              </a:ext>
            </a:extLst>
          </p:cNvPr>
          <p:cNvPicPr>
            <a:picLocks noChangeAspect="1"/>
          </p:cNvPicPr>
          <p:nvPr/>
        </p:nvPicPr>
        <p:blipFill>
          <a:blip r:embed="rId10"/>
          <a:stretch>
            <a:fillRect/>
          </a:stretch>
        </p:blipFill>
        <p:spPr>
          <a:xfrm>
            <a:off x="14473127" y="26213734"/>
            <a:ext cx="9206093" cy="2698824"/>
          </a:xfrm>
          <a:prstGeom prst="rect">
            <a:avLst/>
          </a:prstGeom>
        </p:spPr>
      </p:pic>
      <p:sp>
        <p:nvSpPr>
          <p:cNvPr id="348" name="文本框 347">
            <a:extLst>
              <a:ext uri="{FF2B5EF4-FFF2-40B4-BE49-F238E27FC236}">
                <a16:creationId xmlns:a16="http://schemas.microsoft.com/office/drawing/2014/main" id="{C53B5E98-92D9-2202-BA7B-0AF923215970}"/>
              </a:ext>
            </a:extLst>
          </p:cNvPr>
          <p:cNvSpPr txBox="1"/>
          <p:nvPr/>
        </p:nvSpPr>
        <p:spPr>
          <a:xfrm>
            <a:off x="335868" y="31919962"/>
            <a:ext cx="29870372" cy="1938992"/>
          </a:xfrm>
          <a:prstGeom prst="rect">
            <a:avLst/>
          </a:prstGeom>
          <a:noFill/>
        </p:spPr>
        <p:txBody>
          <a:bodyPr wrap="square" rtlCol="0">
            <a:spAutoFit/>
          </a:bodyPr>
          <a:lstStyle/>
          <a:p>
            <a:r>
              <a:rPr lang="en-US" altLang="zh-CN" sz="4000" dirty="0"/>
              <a:t>All experiments are conducted in a pure cold-start setting. The core graph is built online from scratch </a:t>
            </a:r>
            <a:r>
              <a:rPr lang="en-US" altLang="zh-CN" sz="4000" b="1" dirty="0"/>
              <a:t>without any prior trajectories</a:t>
            </a:r>
            <a:r>
              <a:rPr lang="en-US" altLang="zh-CN" sz="4000" dirty="0"/>
              <a:t>, ensuring fairness across comparisons. </a:t>
            </a:r>
            <a:r>
              <a:rPr lang="en-US" altLang="zh-CN" sz="4000" dirty="0" err="1"/>
              <a:t>AutoTool’s</a:t>
            </a:r>
            <a:r>
              <a:rPr lang="en-US" altLang="zh-CN" sz="4000" dirty="0"/>
              <a:t> optimization mechanism yields substantial efficiency gains across all datasets. </a:t>
            </a:r>
            <a:r>
              <a:rPr lang="en-US" altLang="zh-CN" sz="4000" b="1" dirty="0"/>
              <a:t>On average</a:t>
            </a:r>
            <a:r>
              <a:rPr lang="en-US" altLang="zh-CN" sz="4000" dirty="0"/>
              <a:t>, it reduces the LLM call count by </a:t>
            </a:r>
            <a:r>
              <a:rPr lang="en-US" altLang="zh-CN" sz="4000" b="1" dirty="0"/>
              <a:t>15% to 25% </a:t>
            </a:r>
            <a:r>
              <a:rPr lang="en-US" altLang="zh-CN" sz="4000" dirty="0"/>
              <a:t>and the total token consumption by </a:t>
            </a:r>
            <a:r>
              <a:rPr lang="en-US" altLang="zh-CN" sz="4000" b="1" dirty="0"/>
              <a:t>10% to 40%</a:t>
            </a:r>
            <a:r>
              <a:rPr lang="en-US" altLang="zh-CN" sz="4000" dirty="0"/>
              <a:t> without sacrificing too much performance.</a:t>
            </a:r>
            <a:endParaRPr lang="zh-CN" altLang="en-US" sz="4000" dirty="0"/>
          </a:p>
        </p:txBody>
      </p:sp>
      <p:sp>
        <p:nvSpPr>
          <p:cNvPr id="350" name="文本框 349">
            <a:extLst>
              <a:ext uri="{FF2B5EF4-FFF2-40B4-BE49-F238E27FC236}">
                <a16:creationId xmlns:a16="http://schemas.microsoft.com/office/drawing/2014/main" id="{522EC4BF-C780-79A0-F5F5-623CE39FF4F9}"/>
              </a:ext>
            </a:extLst>
          </p:cNvPr>
          <p:cNvSpPr txBox="1"/>
          <p:nvPr/>
        </p:nvSpPr>
        <p:spPr>
          <a:xfrm>
            <a:off x="3723591" y="16050982"/>
            <a:ext cx="6166047" cy="830997"/>
          </a:xfrm>
          <a:prstGeom prst="rect">
            <a:avLst/>
          </a:prstGeom>
          <a:noFill/>
        </p:spPr>
        <p:txBody>
          <a:bodyPr wrap="none" rtlCol="0">
            <a:spAutoFit/>
          </a:bodyPr>
          <a:lstStyle/>
          <a:p>
            <a:r>
              <a:rPr lang="en-US" altLang="zh-CN" sz="4800" b="1" dirty="0"/>
              <a:t>Tool Inertia Graph </a:t>
            </a:r>
            <a:r>
              <a:rPr lang="en-US" altLang="zh-CN" sz="4800" dirty="0"/>
              <a:t>(TIG)</a:t>
            </a:r>
            <a:endParaRPr lang="zh-CN" altLang="en-US" sz="4800" dirty="0"/>
          </a:p>
        </p:txBody>
      </p:sp>
      <p:sp>
        <p:nvSpPr>
          <p:cNvPr id="352" name="文本框 351">
            <a:extLst>
              <a:ext uri="{FF2B5EF4-FFF2-40B4-BE49-F238E27FC236}">
                <a16:creationId xmlns:a16="http://schemas.microsoft.com/office/drawing/2014/main" id="{2B6BD97E-D131-C7B4-45FC-7A121127222D}"/>
              </a:ext>
            </a:extLst>
          </p:cNvPr>
          <p:cNvSpPr txBox="1"/>
          <p:nvPr/>
        </p:nvSpPr>
        <p:spPr>
          <a:xfrm>
            <a:off x="372299" y="17023494"/>
            <a:ext cx="4106188" cy="707886"/>
          </a:xfrm>
          <a:prstGeom prst="rect">
            <a:avLst/>
          </a:prstGeom>
          <a:noFill/>
        </p:spPr>
        <p:txBody>
          <a:bodyPr wrap="square">
            <a:spAutoFit/>
          </a:bodyPr>
          <a:lstStyle/>
          <a:p>
            <a:pPr marL="457200" indent="-457200">
              <a:buFont typeface="Arial" panose="020B0604020202020204" pitchFamily="34" charset="0"/>
              <a:buChar char="•"/>
            </a:pPr>
            <a:r>
              <a:rPr lang="en-US" altLang="zh-CN" sz="4000" b="1" u="sng" dirty="0">
                <a:solidFill>
                  <a:srgbClr val="000000"/>
                </a:solidFill>
              </a:rPr>
              <a:t>Tool Node:</a:t>
            </a:r>
            <a:endParaRPr lang="zh-CN" altLang="en-US" sz="4000" b="1" u="sng" dirty="0">
              <a:solidFill>
                <a:srgbClr val="000000"/>
              </a:solidFill>
            </a:endParaRPr>
          </a:p>
        </p:txBody>
      </p:sp>
      <p:sp>
        <p:nvSpPr>
          <p:cNvPr id="353" name="文本框 352">
            <a:extLst>
              <a:ext uri="{FF2B5EF4-FFF2-40B4-BE49-F238E27FC236}">
                <a16:creationId xmlns:a16="http://schemas.microsoft.com/office/drawing/2014/main" id="{074435DE-9132-556A-EC67-911A76285B1E}"/>
              </a:ext>
            </a:extLst>
          </p:cNvPr>
          <p:cNvSpPr txBox="1"/>
          <p:nvPr/>
        </p:nvSpPr>
        <p:spPr>
          <a:xfrm>
            <a:off x="372299" y="19077461"/>
            <a:ext cx="4390304" cy="707886"/>
          </a:xfrm>
          <a:prstGeom prst="rect">
            <a:avLst/>
          </a:prstGeom>
          <a:noFill/>
        </p:spPr>
        <p:txBody>
          <a:bodyPr wrap="none" rtlCol="0">
            <a:spAutoFit/>
          </a:bodyPr>
          <a:lstStyle/>
          <a:p>
            <a:pPr marL="571500" indent="-571500">
              <a:buFont typeface="Arial" panose="020B0604020202020204" pitchFamily="34" charset="0"/>
              <a:buChar char="•"/>
            </a:pPr>
            <a:r>
              <a:rPr lang="en-US" altLang="zh-CN" sz="4000" b="1" u="sng" dirty="0">
                <a:solidFill>
                  <a:srgbClr val="000000"/>
                </a:solidFill>
              </a:rPr>
              <a:t>Parameter Node:</a:t>
            </a:r>
            <a:endParaRPr lang="zh-CN" altLang="en-US" sz="4000" b="1" u="sng" dirty="0">
              <a:solidFill>
                <a:srgbClr val="000000"/>
              </a:solidFill>
            </a:endParaRPr>
          </a:p>
        </p:txBody>
      </p:sp>
      <p:sp>
        <p:nvSpPr>
          <p:cNvPr id="354" name="文本框 353">
            <a:extLst>
              <a:ext uri="{FF2B5EF4-FFF2-40B4-BE49-F238E27FC236}">
                <a16:creationId xmlns:a16="http://schemas.microsoft.com/office/drawing/2014/main" id="{B593F6EC-67B6-9988-400B-F98FD5A1BDE6}"/>
              </a:ext>
            </a:extLst>
          </p:cNvPr>
          <p:cNvSpPr txBox="1"/>
          <p:nvPr/>
        </p:nvSpPr>
        <p:spPr>
          <a:xfrm>
            <a:off x="6765172" y="17023494"/>
            <a:ext cx="6232596" cy="707886"/>
          </a:xfrm>
          <a:prstGeom prst="rect">
            <a:avLst/>
          </a:prstGeom>
          <a:noFill/>
        </p:spPr>
        <p:txBody>
          <a:bodyPr wrap="square" rtlCol="0">
            <a:spAutoFit/>
          </a:bodyPr>
          <a:lstStyle/>
          <a:p>
            <a:pPr marL="457200" indent="-457200">
              <a:buFont typeface="Arial" panose="020B0604020202020204" pitchFamily="34" charset="0"/>
              <a:buChar char="•"/>
            </a:pPr>
            <a:r>
              <a:rPr lang="en-US" altLang="zh-CN" sz="4000" b="1" u="sng" dirty="0">
                <a:solidFill>
                  <a:srgbClr val="000000"/>
                </a:solidFill>
              </a:rPr>
              <a:t>Tool Sequence Edge: </a:t>
            </a:r>
          </a:p>
        </p:txBody>
      </p:sp>
      <p:sp>
        <p:nvSpPr>
          <p:cNvPr id="356" name="文本框 355">
            <a:extLst>
              <a:ext uri="{FF2B5EF4-FFF2-40B4-BE49-F238E27FC236}">
                <a16:creationId xmlns:a16="http://schemas.microsoft.com/office/drawing/2014/main" id="{8E4E1413-A3C3-597A-0B12-EBA9C57F7A73}"/>
              </a:ext>
            </a:extLst>
          </p:cNvPr>
          <p:cNvSpPr txBox="1"/>
          <p:nvPr/>
        </p:nvSpPr>
        <p:spPr>
          <a:xfrm>
            <a:off x="6709139" y="19092895"/>
            <a:ext cx="7774280" cy="707886"/>
          </a:xfrm>
          <a:prstGeom prst="rect">
            <a:avLst/>
          </a:prstGeom>
          <a:noFill/>
        </p:spPr>
        <p:txBody>
          <a:bodyPr wrap="square">
            <a:spAutoFit/>
          </a:bodyPr>
          <a:lstStyle/>
          <a:p>
            <a:pPr marL="457200" indent="-457200">
              <a:buFont typeface="Arial" panose="020B0604020202020204" pitchFamily="34" charset="0"/>
              <a:buChar char="•"/>
            </a:pPr>
            <a:r>
              <a:rPr lang="en-US" altLang="zh-CN" sz="4000" b="1" u="sng" dirty="0">
                <a:solidFill>
                  <a:srgbClr val="000000"/>
                </a:solidFill>
              </a:rPr>
              <a:t>Param Dependency Edge:</a:t>
            </a:r>
            <a:endParaRPr lang="zh-CN" altLang="en-US" sz="4000" b="1" u="sng" dirty="0">
              <a:solidFill>
                <a:srgbClr val="000000"/>
              </a:solidFill>
            </a:endParaRPr>
          </a:p>
        </p:txBody>
      </p:sp>
      <p:sp>
        <p:nvSpPr>
          <p:cNvPr id="357" name="文本框 356">
            <a:extLst>
              <a:ext uri="{FF2B5EF4-FFF2-40B4-BE49-F238E27FC236}">
                <a16:creationId xmlns:a16="http://schemas.microsoft.com/office/drawing/2014/main" id="{142835A8-AEC4-4FF1-8F6B-470DE4DAC13B}"/>
              </a:ext>
            </a:extLst>
          </p:cNvPr>
          <p:cNvSpPr txBox="1"/>
          <p:nvPr/>
        </p:nvSpPr>
        <p:spPr>
          <a:xfrm>
            <a:off x="742115" y="17981974"/>
            <a:ext cx="5976185" cy="1200329"/>
          </a:xfrm>
          <a:prstGeom prst="rect">
            <a:avLst/>
          </a:prstGeom>
          <a:noFill/>
        </p:spPr>
        <p:txBody>
          <a:bodyPr wrap="square" rtlCol="0">
            <a:spAutoFit/>
          </a:bodyPr>
          <a:lstStyle/>
          <a:p>
            <a:r>
              <a:rPr lang="en-US" altLang="zh-CN" sz="3600" dirty="0"/>
              <a:t>Primary node, representing an available tool.</a:t>
            </a:r>
            <a:endParaRPr lang="zh-CN" altLang="en-US" sz="3600" dirty="0"/>
          </a:p>
        </p:txBody>
      </p:sp>
      <p:sp>
        <p:nvSpPr>
          <p:cNvPr id="358" name="文本框 357">
            <a:extLst>
              <a:ext uri="{FF2B5EF4-FFF2-40B4-BE49-F238E27FC236}">
                <a16:creationId xmlns:a16="http://schemas.microsoft.com/office/drawing/2014/main" id="{8D7FF5C5-2D13-3E1C-ACFC-4A488A30CEFC}"/>
              </a:ext>
            </a:extLst>
          </p:cNvPr>
          <p:cNvSpPr txBox="1"/>
          <p:nvPr/>
        </p:nvSpPr>
        <p:spPr>
          <a:xfrm>
            <a:off x="742115" y="19991299"/>
            <a:ext cx="6623353" cy="1200329"/>
          </a:xfrm>
          <a:prstGeom prst="rect">
            <a:avLst/>
          </a:prstGeom>
          <a:noFill/>
        </p:spPr>
        <p:txBody>
          <a:bodyPr wrap="square" rtlCol="0">
            <a:spAutoFit/>
          </a:bodyPr>
          <a:lstStyle/>
          <a:p>
            <a:r>
              <a:rPr lang="en-US" altLang="zh-CN" sz="3600" dirty="0"/>
              <a:t>Secondary node, representing a specific in/output parameter.</a:t>
            </a:r>
            <a:endParaRPr lang="zh-CN" altLang="en-US" sz="3600" dirty="0"/>
          </a:p>
        </p:txBody>
      </p:sp>
      <p:sp>
        <p:nvSpPr>
          <p:cNvPr id="360" name="文本框 359">
            <a:extLst>
              <a:ext uri="{FF2B5EF4-FFF2-40B4-BE49-F238E27FC236}">
                <a16:creationId xmlns:a16="http://schemas.microsoft.com/office/drawing/2014/main" id="{7E334AB2-0724-C9E5-3C7E-EF40FD4976D4}"/>
              </a:ext>
            </a:extLst>
          </p:cNvPr>
          <p:cNvSpPr txBox="1"/>
          <p:nvPr/>
        </p:nvSpPr>
        <p:spPr>
          <a:xfrm>
            <a:off x="7249903" y="17866191"/>
            <a:ext cx="6512819" cy="1200329"/>
          </a:xfrm>
          <a:prstGeom prst="rect">
            <a:avLst/>
          </a:prstGeom>
          <a:noFill/>
        </p:spPr>
        <p:txBody>
          <a:bodyPr wrap="square">
            <a:spAutoFit/>
          </a:bodyPr>
          <a:lstStyle/>
          <a:p>
            <a:r>
              <a:rPr lang="en-US" altLang="zh-CN" sz="3600" dirty="0"/>
              <a:t>Connect Tool Node to represent sequential dependencies</a:t>
            </a:r>
            <a:endParaRPr lang="zh-CN" altLang="en-US" sz="3600" dirty="0"/>
          </a:p>
        </p:txBody>
      </p:sp>
      <p:sp>
        <p:nvSpPr>
          <p:cNvPr id="362" name="文本框 361">
            <a:extLst>
              <a:ext uri="{FF2B5EF4-FFF2-40B4-BE49-F238E27FC236}">
                <a16:creationId xmlns:a16="http://schemas.microsoft.com/office/drawing/2014/main" id="{E434F319-FBB0-4924-CEC4-7CA9800F4322}"/>
              </a:ext>
            </a:extLst>
          </p:cNvPr>
          <p:cNvSpPr txBox="1"/>
          <p:nvPr/>
        </p:nvSpPr>
        <p:spPr>
          <a:xfrm>
            <a:off x="7274322" y="19931670"/>
            <a:ext cx="6753427" cy="1200329"/>
          </a:xfrm>
          <a:prstGeom prst="rect">
            <a:avLst/>
          </a:prstGeom>
          <a:noFill/>
        </p:spPr>
        <p:txBody>
          <a:bodyPr wrap="square">
            <a:spAutoFit/>
          </a:bodyPr>
          <a:lstStyle/>
          <a:p>
            <a:r>
              <a:rPr lang="en-US" altLang="zh-CN" sz="3600" dirty="0"/>
              <a:t>Connect Parameter Node to model the data flow between tools</a:t>
            </a:r>
            <a:endParaRPr lang="zh-CN" altLang="en-US" sz="3600" dirty="0"/>
          </a:p>
        </p:txBody>
      </p:sp>
      <p:sp>
        <p:nvSpPr>
          <p:cNvPr id="364" name="文本框 363">
            <a:extLst>
              <a:ext uri="{FF2B5EF4-FFF2-40B4-BE49-F238E27FC236}">
                <a16:creationId xmlns:a16="http://schemas.microsoft.com/office/drawing/2014/main" id="{9491AE1A-4E30-75A2-FE7D-D535279A500F}"/>
              </a:ext>
            </a:extLst>
          </p:cNvPr>
          <p:cNvSpPr txBox="1"/>
          <p:nvPr/>
        </p:nvSpPr>
        <p:spPr>
          <a:xfrm>
            <a:off x="14249221" y="12721092"/>
            <a:ext cx="15790355" cy="1754326"/>
          </a:xfrm>
          <a:prstGeom prst="rect">
            <a:avLst/>
          </a:prstGeom>
          <a:noFill/>
        </p:spPr>
        <p:txBody>
          <a:bodyPr wrap="square">
            <a:spAutoFit/>
          </a:bodyPr>
          <a:lstStyle/>
          <a:p>
            <a:pPr>
              <a:buNone/>
            </a:pPr>
            <a:r>
              <a:rPr lang="en-US" altLang="zh-CN" sz="3600" dirty="0"/>
              <a:t>We model the sequence as a </a:t>
            </a:r>
            <a:r>
              <a:rPr lang="en-US" altLang="zh-CN" sz="3600" b="1" dirty="0"/>
              <a:t>k-</a:t>
            </a:r>
            <a:r>
              <a:rPr lang="en-US" altLang="zh-CN" sz="3600" b="1" dirty="0" err="1"/>
              <a:t>th</a:t>
            </a:r>
            <a:r>
              <a:rPr lang="en-US" altLang="zh-CN" sz="3600" b="1" dirty="0"/>
              <a:t> order Markov chain: </a:t>
            </a:r>
            <a:r>
              <a:rPr lang="en-US" altLang="zh-CN" sz="3600" dirty="0"/>
              <a:t>a 0-order model (assuming independence) yields a baseline entropy of 3.50 bits, this value decreases to 2.52 bits for a 1st-order model and drops further to 1.93 bits for a 2nd-order model.</a:t>
            </a:r>
            <a:endParaRPr lang="zh-CN" altLang="en-US" sz="3600" dirty="0"/>
          </a:p>
        </p:txBody>
      </p:sp>
      <p:grpSp>
        <p:nvGrpSpPr>
          <p:cNvPr id="417" name="组合 416">
            <a:extLst>
              <a:ext uri="{FF2B5EF4-FFF2-40B4-BE49-F238E27FC236}">
                <a16:creationId xmlns:a16="http://schemas.microsoft.com/office/drawing/2014/main" id="{18156B7D-167C-1198-E898-ABB5FF04D567}"/>
              </a:ext>
            </a:extLst>
          </p:cNvPr>
          <p:cNvGrpSpPr/>
          <p:nvPr/>
        </p:nvGrpSpPr>
        <p:grpSpPr>
          <a:xfrm>
            <a:off x="14249222" y="17110479"/>
            <a:ext cx="15957018" cy="6863865"/>
            <a:chOff x="14249222" y="17110479"/>
            <a:chExt cx="15957018" cy="6863865"/>
          </a:xfrm>
        </p:grpSpPr>
        <p:pic>
          <p:nvPicPr>
            <p:cNvPr id="337" name="图片 336">
              <a:extLst>
                <a:ext uri="{FF2B5EF4-FFF2-40B4-BE49-F238E27FC236}">
                  <a16:creationId xmlns:a16="http://schemas.microsoft.com/office/drawing/2014/main" id="{77F2FC4A-3FBE-5095-E3B5-74DA7B212DFC}"/>
                </a:ext>
              </a:extLst>
            </p:cNvPr>
            <p:cNvPicPr>
              <a:picLocks noChangeAspect="1"/>
            </p:cNvPicPr>
            <p:nvPr/>
          </p:nvPicPr>
          <p:blipFill>
            <a:blip r:embed="rId11"/>
            <a:stretch>
              <a:fillRect/>
            </a:stretch>
          </p:blipFill>
          <p:spPr>
            <a:xfrm>
              <a:off x="21561067" y="21291293"/>
              <a:ext cx="8361631" cy="878001"/>
            </a:xfrm>
            <a:prstGeom prst="rect">
              <a:avLst/>
            </a:prstGeom>
          </p:spPr>
        </p:pic>
        <p:pic>
          <p:nvPicPr>
            <p:cNvPr id="345" name="图片 344" descr="图示&#10;&#10;AI 生成的内容可能不正确。">
              <a:extLst>
                <a:ext uri="{FF2B5EF4-FFF2-40B4-BE49-F238E27FC236}">
                  <a16:creationId xmlns:a16="http://schemas.microsoft.com/office/drawing/2014/main" id="{61AD1654-4CD9-C79E-D90D-61422E2998E2}"/>
                </a:ext>
              </a:extLst>
            </p:cNvPr>
            <p:cNvPicPr>
              <a:picLocks noChangeAspect="1"/>
            </p:cNvPicPr>
            <p:nvPr/>
          </p:nvPicPr>
          <p:blipFill>
            <a:blip r:embed="rId12"/>
            <a:stretch>
              <a:fillRect/>
            </a:stretch>
          </p:blipFill>
          <p:spPr>
            <a:xfrm>
              <a:off x="14249222" y="17181963"/>
              <a:ext cx="7107965" cy="4404118"/>
            </a:xfrm>
            <a:prstGeom prst="rect">
              <a:avLst/>
            </a:prstGeom>
          </p:spPr>
        </p:pic>
        <p:sp>
          <p:nvSpPr>
            <p:cNvPr id="367" name="文本框 366">
              <a:extLst>
                <a:ext uri="{FF2B5EF4-FFF2-40B4-BE49-F238E27FC236}">
                  <a16:creationId xmlns:a16="http://schemas.microsoft.com/office/drawing/2014/main" id="{E2C3F748-84F2-DA59-4EF3-1FC62ED06AA0}"/>
                </a:ext>
              </a:extLst>
            </p:cNvPr>
            <p:cNvSpPr txBox="1"/>
            <p:nvPr/>
          </p:nvSpPr>
          <p:spPr>
            <a:xfrm>
              <a:off x="21888790" y="17110479"/>
              <a:ext cx="8033908" cy="3970318"/>
            </a:xfrm>
            <a:prstGeom prst="rect">
              <a:avLst/>
            </a:prstGeom>
            <a:noFill/>
          </p:spPr>
          <p:txBody>
            <a:bodyPr wrap="square">
              <a:spAutoFit/>
            </a:bodyPr>
            <a:lstStyle/>
            <a:p>
              <a:pPr>
                <a:buNone/>
              </a:pPr>
              <a:r>
                <a:rPr lang="en-US" altLang="zh-CN" sz="3600" dirty="0" err="1"/>
                <a:t>AutoTool</a:t>
              </a:r>
              <a:r>
                <a:rPr lang="en-US" altLang="zh-CN" sz="3600" dirty="0"/>
                <a:t> searches the TIG to identify candidate tools that have historically followed the sequence of the most recent k tools. For each candidate, we calculate a Comprehensive Inertia Potential Score (CIPS). We select the tool achieving the highest CIPS.</a:t>
              </a:r>
            </a:p>
          </p:txBody>
        </p:sp>
        <mc:AlternateContent xmlns:mc="http://schemas.openxmlformats.org/markup-compatibility/2006">
          <mc:Choice xmlns:a14="http://schemas.microsoft.com/office/drawing/2010/main" Requires="a14">
            <p:sp>
              <p:nvSpPr>
                <p:cNvPr id="370" name="文本框 369">
                  <a:extLst>
                    <a:ext uri="{FF2B5EF4-FFF2-40B4-BE49-F238E27FC236}">
                      <a16:creationId xmlns:a16="http://schemas.microsoft.com/office/drawing/2014/main" id="{EBA4F163-1CB6-BBCA-9EB9-55FEA52027D8}"/>
                    </a:ext>
                  </a:extLst>
                </p:cNvPr>
                <p:cNvSpPr txBox="1"/>
                <p:nvPr/>
              </p:nvSpPr>
              <p:spPr>
                <a:xfrm>
                  <a:off x="14249222" y="22175646"/>
                  <a:ext cx="15957018" cy="1798698"/>
                </a:xfrm>
                <a:prstGeom prst="rect">
                  <a:avLst/>
                </a:prstGeom>
                <a:noFill/>
              </p:spPr>
              <p:txBody>
                <a:bodyPr wrap="square">
                  <a:spAutoFit/>
                </a:bodyPr>
                <a:lstStyle/>
                <a:p>
                  <a:r>
                    <a:rPr lang="en-US" altLang="zh-CN" sz="3600" dirty="0"/>
                    <a:t>The Frequency Score (</a:t>
                  </a:r>
                  <a14:m>
                    <m:oMath xmlns:m="http://schemas.openxmlformats.org/officeDocument/2006/math">
                      <m:sSub>
                        <m:sSubPr>
                          <m:ctrlPr>
                            <a:rPr lang="en-US" altLang="zh-CN" sz="3600" i="1" dirty="0" smtClean="0">
                              <a:latin typeface="Cambria Math" panose="02040503050406030204" pitchFamily="18" charset="0"/>
                            </a:rPr>
                          </m:ctrlPr>
                        </m:sSubPr>
                        <m:e>
                          <m:r>
                            <a:rPr lang="en-US" altLang="zh-CN" sz="3600" b="0" i="1" dirty="0" smtClean="0">
                              <a:latin typeface="Cambria Math" panose="02040503050406030204" pitchFamily="18" charset="0"/>
                            </a:rPr>
                            <m:t>𝑆𝑐𝑜𝑟𝑒</m:t>
                          </m:r>
                        </m:e>
                        <m:sub>
                          <m:r>
                            <a:rPr lang="en-US" altLang="zh-CN" sz="3600" b="0" i="1" dirty="0" smtClean="0">
                              <a:latin typeface="Cambria Math" panose="02040503050406030204" pitchFamily="18" charset="0"/>
                            </a:rPr>
                            <m:t>𝑓𝑟𝑒𝑞</m:t>
                          </m:r>
                        </m:sub>
                      </m:sSub>
                    </m:oMath>
                  </a14:m>
                  <a:r>
                    <a:rPr lang="en-US" altLang="zh-CN" sz="3600" dirty="0"/>
                    <a:t>) quantifies historical usage patterns extracted from TIG edge weights, while the Contextual Score (</a:t>
                  </a:r>
                  <a14:m>
                    <m:oMath xmlns:m="http://schemas.openxmlformats.org/officeDocument/2006/math">
                      <m:sSub>
                        <m:sSubPr>
                          <m:ctrlPr>
                            <a:rPr lang="en-US" altLang="zh-CN" sz="3600" i="1" smtClean="0">
                              <a:latin typeface="Cambria Math" panose="02040503050406030204" pitchFamily="18" charset="0"/>
                            </a:rPr>
                          </m:ctrlPr>
                        </m:sSubPr>
                        <m:e>
                          <m:r>
                            <a:rPr lang="en-US" altLang="zh-CN" sz="3600" b="0" i="1" smtClean="0">
                              <a:latin typeface="Cambria Math" panose="02040503050406030204" pitchFamily="18" charset="0"/>
                            </a:rPr>
                            <m:t>𝑆𝑐𝑜𝑟𝑒</m:t>
                          </m:r>
                        </m:e>
                        <m:sub>
                          <m:r>
                            <a:rPr lang="en-US" altLang="zh-CN" sz="3600" b="0" i="1" smtClean="0">
                              <a:latin typeface="Cambria Math" panose="02040503050406030204" pitchFamily="18" charset="0"/>
                            </a:rPr>
                            <m:t>𝑐𝑡𝑥</m:t>
                          </m:r>
                        </m:sub>
                      </m:sSub>
                    </m:oMath>
                  </a14:m>
                  <a:r>
                    <a:rPr lang="en-US" altLang="zh-CN" sz="3600" dirty="0"/>
                    <a:t>) evaluates semantic alignment between the agent’s current intuition and the candidate tool’s description.</a:t>
                  </a:r>
                  <a:endParaRPr lang="zh-CN" altLang="en-US" sz="3600" dirty="0"/>
                </a:p>
              </p:txBody>
            </p:sp>
          </mc:Choice>
          <mc:Fallback>
            <p:sp>
              <p:nvSpPr>
                <p:cNvPr id="370" name="文本框 369">
                  <a:extLst>
                    <a:ext uri="{FF2B5EF4-FFF2-40B4-BE49-F238E27FC236}">
                      <a16:creationId xmlns:a16="http://schemas.microsoft.com/office/drawing/2014/main" id="{EBA4F163-1CB6-BBCA-9EB9-55FEA52027D8}"/>
                    </a:ext>
                  </a:extLst>
                </p:cNvPr>
                <p:cNvSpPr txBox="1">
                  <a:spLocks noRot="1" noChangeAspect="1" noMove="1" noResize="1" noEditPoints="1" noAdjustHandles="1" noChangeArrowheads="1" noChangeShapeType="1" noTextEdit="1"/>
                </p:cNvSpPr>
                <p:nvPr/>
              </p:nvSpPr>
              <p:spPr>
                <a:xfrm>
                  <a:off x="14249222" y="22175646"/>
                  <a:ext cx="15957018" cy="1798698"/>
                </a:xfrm>
                <a:prstGeom prst="rect">
                  <a:avLst/>
                </a:prstGeom>
                <a:blipFill>
                  <a:blip r:embed="rId13"/>
                  <a:stretch>
                    <a:fillRect l="-1146" t="-5085" r="-955" b="-11864"/>
                  </a:stretch>
                </a:blipFill>
              </p:spPr>
              <p:txBody>
                <a:bodyPr/>
                <a:lstStyle/>
                <a:p>
                  <a:r>
                    <a:rPr lang="zh-CN" altLang="en-US">
                      <a:noFill/>
                    </a:rPr>
                    <a:t> </a:t>
                  </a:r>
                </a:p>
              </p:txBody>
            </p:sp>
          </mc:Fallback>
        </mc:AlternateContent>
      </p:grpSp>
      <p:sp>
        <p:nvSpPr>
          <p:cNvPr id="372" name="文本框 371">
            <a:extLst>
              <a:ext uri="{FF2B5EF4-FFF2-40B4-BE49-F238E27FC236}">
                <a16:creationId xmlns:a16="http://schemas.microsoft.com/office/drawing/2014/main" id="{8863677B-A937-310B-6783-DEF8AA3A3626}"/>
              </a:ext>
            </a:extLst>
          </p:cNvPr>
          <p:cNvSpPr txBox="1"/>
          <p:nvPr/>
        </p:nvSpPr>
        <p:spPr>
          <a:xfrm>
            <a:off x="14249222" y="28990159"/>
            <a:ext cx="9855378" cy="1200329"/>
          </a:xfrm>
          <a:prstGeom prst="rect">
            <a:avLst/>
          </a:prstGeom>
          <a:noFill/>
        </p:spPr>
        <p:txBody>
          <a:bodyPr wrap="square">
            <a:spAutoFit/>
          </a:bodyPr>
          <a:lstStyle/>
          <a:p>
            <a:r>
              <a:rPr lang="en-US" altLang="zh-CN" sz="3600" dirty="0" err="1"/>
              <a:t>AutoTool</a:t>
            </a:r>
            <a:r>
              <a:rPr lang="en-US" altLang="zh-CN" sz="3600" dirty="0"/>
              <a:t> attempts to populate its required parameters using a hierarchical, non-LLM strategy</a:t>
            </a:r>
            <a:endParaRPr lang="zh-CN" altLang="en-US" sz="3600" dirty="0"/>
          </a:p>
        </p:txBody>
      </p:sp>
      <p:sp>
        <p:nvSpPr>
          <p:cNvPr id="374" name="文本框 373">
            <a:extLst>
              <a:ext uri="{FF2B5EF4-FFF2-40B4-BE49-F238E27FC236}">
                <a16:creationId xmlns:a16="http://schemas.microsoft.com/office/drawing/2014/main" id="{0903D8A9-9AA6-F765-5A88-421B8EE08A21}"/>
              </a:ext>
            </a:extLst>
          </p:cNvPr>
          <p:cNvSpPr txBox="1"/>
          <p:nvPr/>
        </p:nvSpPr>
        <p:spPr>
          <a:xfrm>
            <a:off x="23712827" y="25462983"/>
            <a:ext cx="6326749" cy="4524315"/>
          </a:xfrm>
          <a:prstGeom prst="rect">
            <a:avLst/>
          </a:prstGeom>
          <a:noFill/>
        </p:spPr>
        <p:txBody>
          <a:bodyPr wrap="square">
            <a:spAutoFit/>
          </a:bodyPr>
          <a:lstStyle/>
          <a:p>
            <a:pPr marL="742950" indent="-742950">
              <a:buAutoNum type="alphaLcPeriod"/>
            </a:pPr>
            <a:r>
              <a:rPr lang="en-US" altLang="zh-CN" sz="3600" dirty="0"/>
              <a:t>Traverses the parameter dependency edges in the TIG.</a:t>
            </a:r>
          </a:p>
          <a:p>
            <a:pPr marL="742950" indent="-742950">
              <a:buAutoNum type="alphaLcPeriod"/>
            </a:pPr>
            <a:r>
              <a:rPr lang="en-US" altLang="zh-CN" sz="3600" dirty="0"/>
              <a:t>Environmental state matching, using key states maintained by the agent.</a:t>
            </a:r>
          </a:p>
          <a:p>
            <a:pPr marL="742950" indent="-742950">
              <a:buAutoNum type="alphaLcPeriod"/>
            </a:pPr>
            <a:r>
              <a:rPr lang="en-US" altLang="zh-CN" sz="3600" dirty="0"/>
              <a:t>Heuristic filling based on the agent’s current state or task goal.</a:t>
            </a:r>
            <a:endParaRPr lang="zh-CN" altLang="en-US" sz="3600" dirty="0"/>
          </a:p>
        </p:txBody>
      </p:sp>
      <p:pic>
        <p:nvPicPr>
          <p:cNvPr id="378" name="图片 377">
            <a:extLst>
              <a:ext uri="{FF2B5EF4-FFF2-40B4-BE49-F238E27FC236}">
                <a16:creationId xmlns:a16="http://schemas.microsoft.com/office/drawing/2014/main" id="{3DF3DE5F-AC39-384A-EFB6-F4DE02B90FF3}"/>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259558" y="747446"/>
            <a:ext cx="5917774" cy="4434507"/>
          </a:xfrm>
          <a:prstGeom prst="rect">
            <a:avLst/>
          </a:prstGeom>
          <a:noFill/>
          <a:ln>
            <a:noFill/>
          </a:ln>
        </p:spPr>
      </p:pic>
      <p:cxnSp>
        <p:nvCxnSpPr>
          <p:cNvPr id="380" name="直接连接符 379">
            <a:extLst>
              <a:ext uri="{FF2B5EF4-FFF2-40B4-BE49-F238E27FC236}">
                <a16:creationId xmlns:a16="http://schemas.microsoft.com/office/drawing/2014/main" id="{859ED3A8-DAD6-7C29-37B7-FDC6D21DE7E5}"/>
              </a:ext>
            </a:extLst>
          </p:cNvPr>
          <p:cNvCxnSpPr>
            <a:cxnSpLocks/>
          </p:cNvCxnSpPr>
          <p:nvPr/>
        </p:nvCxnSpPr>
        <p:spPr>
          <a:xfrm>
            <a:off x="14040000" y="7543372"/>
            <a:ext cx="0" cy="6522099"/>
          </a:xfrm>
          <a:prstGeom prst="line">
            <a:avLst/>
          </a:prstGeom>
          <a:ln w="57150">
            <a:prstDash val="dash"/>
          </a:ln>
        </p:spPr>
        <p:style>
          <a:lnRef idx="1">
            <a:schemeClr val="accent1"/>
          </a:lnRef>
          <a:fillRef idx="0">
            <a:schemeClr val="accent1"/>
          </a:fillRef>
          <a:effectRef idx="0">
            <a:schemeClr val="accent1"/>
          </a:effectRef>
          <a:fontRef idx="minor">
            <a:schemeClr val="tx1"/>
          </a:fontRef>
        </p:style>
      </p:cxnSp>
      <p:cxnSp>
        <p:nvCxnSpPr>
          <p:cNvPr id="383" name="直接连接符 382">
            <a:extLst>
              <a:ext uri="{FF2B5EF4-FFF2-40B4-BE49-F238E27FC236}">
                <a16:creationId xmlns:a16="http://schemas.microsoft.com/office/drawing/2014/main" id="{99316444-2C6B-E3A4-21D8-04BBEAC1C64F}"/>
              </a:ext>
            </a:extLst>
          </p:cNvPr>
          <p:cNvCxnSpPr>
            <a:cxnSpLocks/>
          </p:cNvCxnSpPr>
          <p:nvPr/>
        </p:nvCxnSpPr>
        <p:spPr>
          <a:xfrm>
            <a:off x="14027749" y="16238486"/>
            <a:ext cx="12251" cy="13809714"/>
          </a:xfrm>
          <a:prstGeom prst="line">
            <a:avLst/>
          </a:prstGeom>
          <a:ln w="57150">
            <a:prstDash val="dash"/>
          </a:ln>
        </p:spPr>
        <p:style>
          <a:lnRef idx="1">
            <a:schemeClr val="accent1"/>
          </a:lnRef>
          <a:fillRef idx="0">
            <a:schemeClr val="accent1"/>
          </a:fillRef>
          <a:effectRef idx="0">
            <a:schemeClr val="accent1"/>
          </a:effectRef>
          <a:fontRef idx="minor">
            <a:schemeClr val="tx1"/>
          </a:fontRef>
        </p:style>
      </p:cxnSp>
      <p:cxnSp>
        <p:nvCxnSpPr>
          <p:cNvPr id="389" name="直接连接符 388">
            <a:extLst>
              <a:ext uri="{FF2B5EF4-FFF2-40B4-BE49-F238E27FC236}">
                <a16:creationId xmlns:a16="http://schemas.microsoft.com/office/drawing/2014/main" id="{E9A55423-4876-A003-8650-281E0833D13B}"/>
              </a:ext>
            </a:extLst>
          </p:cNvPr>
          <p:cNvCxnSpPr>
            <a:cxnSpLocks/>
          </p:cNvCxnSpPr>
          <p:nvPr/>
        </p:nvCxnSpPr>
        <p:spPr>
          <a:xfrm>
            <a:off x="604277" y="21537997"/>
            <a:ext cx="12337458" cy="0"/>
          </a:xfrm>
          <a:prstGeom prst="line">
            <a:avLst/>
          </a:prstGeom>
          <a:ln w="57150">
            <a:prstDash val="dash"/>
          </a:ln>
        </p:spPr>
        <p:style>
          <a:lnRef idx="1">
            <a:schemeClr val="accent1"/>
          </a:lnRef>
          <a:fillRef idx="0">
            <a:schemeClr val="accent1"/>
          </a:fillRef>
          <a:effectRef idx="0">
            <a:schemeClr val="accent1"/>
          </a:effectRef>
          <a:fontRef idx="minor">
            <a:schemeClr val="tx1"/>
          </a:fontRef>
        </p:style>
      </p:cxnSp>
      <p:cxnSp>
        <p:nvCxnSpPr>
          <p:cNvPr id="391" name="直接连接符 390">
            <a:extLst>
              <a:ext uri="{FF2B5EF4-FFF2-40B4-BE49-F238E27FC236}">
                <a16:creationId xmlns:a16="http://schemas.microsoft.com/office/drawing/2014/main" id="{3E7B46D0-1D60-051D-A7F5-6AC4488B12C0}"/>
              </a:ext>
            </a:extLst>
          </p:cNvPr>
          <p:cNvCxnSpPr>
            <a:cxnSpLocks/>
          </p:cNvCxnSpPr>
          <p:nvPr/>
        </p:nvCxnSpPr>
        <p:spPr>
          <a:xfrm>
            <a:off x="14895455" y="24382797"/>
            <a:ext cx="15027243" cy="0"/>
          </a:xfrm>
          <a:prstGeom prst="line">
            <a:avLst/>
          </a:prstGeom>
          <a:ln w="57150">
            <a:prstDash val="dash"/>
          </a:ln>
        </p:spPr>
        <p:style>
          <a:lnRef idx="1">
            <a:schemeClr val="accent1"/>
          </a:lnRef>
          <a:fillRef idx="0">
            <a:schemeClr val="accent1"/>
          </a:fillRef>
          <a:effectRef idx="0">
            <a:schemeClr val="accent1"/>
          </a:effectRef>
          <a:fontRef idx="minor">
            <a:schemeClr val="tx1"/>
          </a:fontRef>
        </p:style>
      </p:cxnSp>
      <p:pic>
        <p:nvPicPr>
          <p:cNvPr id="402" name="图片 401">
            <a:extLst>
              <a:ext uri="{FF2B5EF4-FFF2-40B4-BE49-F238E27FC236}">
                <a16:creationId xmlns:a16="http://schemas.microsoft.com/office/drawing/2014/main" id="{BA6E2A50-E812-EDCB-50B4-FF31AC35441C}"/>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4985944" y="41871512"/>
            <a:ext cx="4751298" cy="734292"/>
          </a:xfrm>
          <a:prstGeom prst="rect">
            <a:avLst/>
          </a:prstGeom>
        </p:spPr>
      </p:pic>
      <p:grpSp>
        <p:nvGrpSpPr>
          <p:cNvPr id="420" name="组合 419">
            <a:extLst>
              <a:ext uri="{FF2B5EF4-FFF2-40B4-BE49-F238E27FC236}">
                <a16:creationId xmlns:a16="http://schemas.microsoft.com/office/drawing/2014/main" id="{7E643C4F-5ABC-4244-78DA-4494D0146151}"/>
              </a:ext>
            </a:extLst>
          </p:cNvPr>
          <p:cNvGrpSpPr/>
          <p:nvPr/>
        </p:nvGrpSpPr>
        <p:grpSpPr>
          <a:xfrm>
            <a:off x="-61401" y="41727600"/>
            <a:ext cx="30342307" cy="1081501"/>
            <a:chOff x="-61401" y="41727600"/>
            <a:chExt cx="30342307" cy="1081501"/>
          </a:xfrm>
          <a:solidFill>
            <a:srgbClr val="065980"/>
          </a:solidFill>
        </p:grpSpPr>
        <p:sp>
          <p:nvSpPr>
            <p:cNvPr id="395" name="矩形 394">
              <a:extLst>
                <a:ext uri="{FF2B5EF4-FFF2-40B4-BE49-F238E27FC236}">
                  <a16:creationId xmlns:a16="http://schemas.microsoft.com/office/drawing/2014/main" id="{1A92BD34-68A2-022E-1CA4-010FBE980DC8}"/>
                </a:ext>
              </a:extLst>
            </p:cNvPr>
            <p:cNvSpPr/>
            <p:nvPr/>
          </p:nvSpPr>
          <p:spPr>
            <a:xfrm>
              <a:off x="-61401" y="41729101"/>
              <a:ext cx="23967534" cy="10800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5" name="矩形 404">
              <a:extLst>
                <a:ext uri="{FF2B5EF4-FFF2-40B4-BE49-F238E27FC236}">
                  <a16:creationId xmlns:a16="http://schemas.microsoft.com/office/drawing/2014/main" id="{0FADC78F-620C-FCEE-E56B-46D72C65EFBA}"/>
                </a:ext>
              </a:extLst>
            </p:cNvPr>
            <p:cNvSpPr/>
            <p:nvPr/>
          </p:nvSpPr>
          <p:spPr>
            <a:xfrm>
              <a:off x="23894747" y="41727600"/>
              <a:ext cx="6380466" cy="13586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矩形: 剪去单角 406">
              <a:extLst>
                <a:ext uri="{FF2B5EF4-FFF2-40B4-BE49-F238E27FC236}">
                  <a16:creationId xmlns:a16="http://schemas.microsoft.com/office/drawing/2014/main" id="{5DBB660F-06E9-4DD7-DA63-ED5769EF5961}"/>
                </a:ext>
              </a:extLst>
            </p:cNvPr>
            <p:cNvSpPr/>
            <p:nvPr/>
          </p:nvSpPr>
          <p:spPr>
            <a:xfrm>
              <a:off x="23889054" y="42606955"/>
              <a:ext cx="6391852" cy="200995"/>
            </a:xfrm>
            <a:prstGeom prst="snip1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平行四边形 407">
              <a:extLst>
                <a:ext uri="{FF2B5EF4-FFF2-40B4-BE49-F238E27FC236}">
                  <a16:creationId xmlns:a16="http://schemas.microsoft.com/office/drawing/2014/main" id="{DF88B074-613E-5CC9-873E-2EB756AB48E1}"/>
                </a:ext>
              </a:extLst>
            </p:cNvPr>
            <p:cNvSpPr/>
            <p:nvPr/>
          </p:nvSpPr>
          <p:spPr>
            <a:xfrm>
              <a:off x="22819562" y="41819391"/>
              <a:ext cx="1786530" cy="847804"/>
            </a:xfrm>
            <a:prstGeom prst="parallelogram">
              <a:avLst>
                <a:gd name="adj" fmla="val 53443"/>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10" name="图片 409">
            <a:extLst>
              <a:ext uri="{FF2B5EF4-FFF2-40B4-BE49-F238E27FC236}">
                <a16:creationId xmlns:a16="http://schemas.microsoft.com/office/drawing/2014/main" id="{70AC8660-28B3-51E4-D7E6-AEDFED5F6D3D}"/>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2485558" y="2230934"/>
            <a:ext cx="7251684" cy="1643239"/>
          </a:xfrm>
          <a:prstGeom prst="rect">
            <a:avLst/>
          </a:prstGeom>
        </p:spPr>
      </p:pic>
    </p:spTree>
    <p:extLst>
      <p:ext uri="{BB962C8B-B14F-4D97-AF65-F5344CB8AC3E}">
        <p14:creationId xmlns:p14="http://schemas.microsoft.com/office/powerpoint/2010/main" val="563637331"/>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337</TotalTime>
  <Words>567</Words>
  <Application>Microsoft Office PowerPoint</Application>
  <PresentationFormat>自定义</PresentationFormat>
  <Paragraphs>32</Paragraphs>
  <Slides>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vt:i4>
      </vt:variant>
    </vt:vector>
  </HeadingPairs>
  <TitlesOfParts>
    <vt:vector size="10" baseType="lpstr">
      <vt:lpstr>NimbusRomNo9L-Medi</vt:lpstr>
      <vt:lpstr>NimbusRomNo9L-MediItal</vt:lpstr>
      <vt:lpstr>NimbusRomNo9L-Regu</vt:lpstr>
      <vt:lpstr>Arial</vt:lpstr>
      <vt:lpstr>Calibri</vt:lpstr>
      <vt:lpstr>Calibri Light</vt:lpstr>
      <vt:lpstr>Cambria Math</vt:lpstr>
      <vt:lpstr>JetBrains Mono</vt:lpstr>
      <vt:lpstr>Office 主题​​</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竟一 贾</dc:creator>
  <cp:lastModifiedBy>竟一 贾</cp:lastModifiedBy>
  <cp:revision>2</cp:revision>
  <dcterms:created xsi:type="dcterms:W3CDTF">2025-12-13T07:05:23Z</dcterms:created>
  <dcterms:modified xsi:type="dcterms:W3CDTF">2025-12-15T04:32:45Z</dcterms:modified>
</cp:coreProperties>
</file>